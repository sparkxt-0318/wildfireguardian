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60" r:id="rId3"/>
    <p:sldId id="262" r:id="rId4"/>
    <p:sldId id="264" r:id="rId5"/>
    <p:sldId id="267" r:id="rId6"/>
    <p:sldId id="269" r:id="rId7"/>
    <p:sldId id="271" r:id="rId8"/>
    <p:sldId id="259" r:id="rId9"/>
    <p:sldId id="261" r:id="rId10"/>
    <p:sldId id="266" r:id="rId11"/>
    <p:sldId id="265" r:id="rId12"/>
    <p:sldId id="268" r:id="rId13"/>
    <p:sldId id="263" r:id="rId14"/>
    <p:sldId id="270" r:id="rId15"/>
    <p:sldId id="257" r:id="rId16"/>
  </p:sldIdLst>
  <p:sldSz cx="12192000" cy="6858000"/>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18F7"/>
    <a:srgbClr val="002E60"/>
    <a:srgbClr val="000000"/>
    <a:srgbClr val="40A4DF"/>
    <a:srgbClr val="EEE7E4"/>
    <a:srgbClr val="C0C662"/>
    <a:srgbClr val="F4BB4F"/>
    <a:srgbClr val="F58E5E"/>
    <a:srgbClr val="F5636D"/>
    <a:srgbClr val="3EB2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18" autoAdjust="0"/>
    <p:restoredTop sz="94247" autoAdjust="0"/>
  </p:normalViewPr>
  <p:slideViewPr>
    <p:cSldViewPr snapToGrid="0">
      <p:cViewPr varScale="1">
        <p:scale>
          <a:sx n="120" d="100"/>
          <a:sy n="120" d="100"/>
        </p:scale>
        <p:origin x="1176" y="17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2" d="100"/>
          <a:sy n="82" d="100"/>
        </p:scale>
        <p:origin x="4128"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atin typeface="프리젠테이션 4 Regular" pitchFamily="2" charset="-127"/>
                <a:ea typeface="프리젠테이션 4 Regular" pitchFamily="2" charset="-127"/>
              </a:defRPr>
            </a:lvl1pPr>
          </a:lstStyle>
          <a:p>
            <a:endParaRPr lang="ko-KR" altLang="en-US" dirty="0"/>
          </a:p>
        </p:txBody>
      </p:sp>
      <p:sp>
        <p:nvSpPr>
          <p:cNvPr id="3" name="날짜 개체 틀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atin typeface="프리젠테이션 4 Regular" pitchFamily="2" charset="-127"/>
                <a:ea typeface="프리젠테이션 4 Regular" pitchFamily="2" charset="-127"/>
              </a:defRPr>
            </a:lvl1pPr>
          </a:lstStyle>
          <a:p>
            <a:fld id="{41724887-4280-4D3D-9743-3FCB1D129449}" type="datetimeFigureOut">
              <a:rPr lang="ko-KR" altLang="en-US" smtClean="0"/>
              <a:pPr/>
              <a:t>2026. 7. 26.</a:t>
            </a:fld>
            <a:endParaRPr lang="ko-KR" altLang="en-US" dirty="0"/>
          </a:p>
        </p:txBody>
      </p:sp>
      <p:sp>
        <p:nvSpPr>
          <p:cNvPr id="4" name="슬라이드 이미지 개체 틀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바닥글 개체 틀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atin typeface="프리젠테이션 4 Regular" pitchFamily="2" charset="-127"/>
                <a:ea typeface="프리젠테이션 4 Regular" pitchFamily="2" charset="-127"/>
              </a:defRPr>
            </a:lvl1pPr>
          </a:lstStyle>
          <a:p>
            <a:endParaRPr lang="ko-KR" altLang="en-US" dirty="0"/>
          </a:p>
        </p:txBody>
      </p:sp>
      <p:sp>
        <p:nvSpPr>
          <p:cNvPr id="7" name="슬라이드 번호 개체 틀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atin typeface="프리젠테이션 4 Regular" pitchFamily="2" charset="-127"/>
                <a:ea typeface="프리젠테이션 4 Regular" pitchFamily="2" charset="-127"/>
              </a:defRPr>
            </a:lvl1pPr>
          </a:lstStyle>
          <a:p>
            <a:fld id="{337FA3E6-53C5-43DA-B016-C497AC63D37D}" type="slidenum">
              <a:rPr lang="ko-KR" altLang="en-US" smtClean="0"/>
              <a:pPr/>
              <a:t>‹#›</a:t>
            </a:fld>
            <a:endParaRPr lang="ko-KR" altLang="en-US" dirty="0"/>
          </a:p>
        </p:txBody>
      </p:sp>
    </p:spTree>
    <p:extLst>
      <p:ext uri="{BB962C8B-B14F-4D97-AF65-F5344CB8AC3E}">
        <p14:creationId xmlns:p14="http://schemas.microsoft.com/office/powerpoint/2010/main" val="97922278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프리젠테이션 4 Regular" pitchFamily="2" charset="-127"/>
        <a:ea typeface="프리젠테이션 4 Regular" pitchFamily="2" charset="-127"/>
        <a:cs typeface="+mn-cs"/>
      </a:defRPr>
    </a:lvl1pPr>
    <a:lvl2pPr marL="457200" algn="l" defTabSz="914400" rtl="0" eaLnBrk="1" latinLnBrk="1" hangingPunct="1">
      <a:defRPr sz="1200" kern="1200">
        <a:solidFill>
          <a:schemeClr val="tx1"/>
        </a:solidFill>
        <a:latin typeface="프리젠테이션 4 Regular" pitchFamily="2" charset="-127"/>
        <a:ea typeface="프리젠테이션 4 Regular" pitchFamily="2" charset="-127"/>
        <a:cs typeface="+mn-cs"/>
      </a:defRPr>
    </a:lvl2pPr>
    <a:lvl3pPr marL="914400" algn="l" defTabSz="914400" rtl="0" eaLnBrk="1" latinLnBrk="1" hangingPunct="1">
      <a:defRPr sz="1200" kern="1200">
        <a:solidFill>
          <a:schemeClr val="tx1"/>
        </a:solidFill>
        <a:latin typeface="프리젠테이션 4 Regular" pitchFamily="2" charset="-127"/>
        <a:ea typeface="프리젠테이션 4 Regular" pitchFamily="2" charset="-127"/>
        <a:cs typeface="+mn-cs"/>
      </a:defRPr>
    </a:lvl3pPr>
    <a:lvl4pPr marL="1371600" algn="l" defTabSz="914400" rtl="0" eaLnBrk="1" latinLnBrk="1" hangingPunct="1">
      <a:defRPr sz="1200" kern="1200">
        <a:solidFill>
          <a:schemeClr val="tx1"/>
        </a:solidFill>
        <a:latin typeface="프리젠테이션 4 Regular" pitchFamily="2" charset="-127"/>
        <a:ea typeface="프리젠테이션 4 Regular" pitchFamily="2" charset="-127"/>
        <a:cs typeface="+mn-cs"/>
      </a:defRPr>
    </a:lvl4pPr>
    <a:lvl5pPr marL="1828800" algn="l" defTabSz="914400" rtl="0" eaLnBrk="1" latinLnBrk="1" hangingPunct="1">
      <a:defRPr sz="1200" kern="1200">
        <a:solidFill>
          <a:schemeClr val="tx1"/>
        </a:solidFill>
        <a:latin typeface="프리젠테이션 4 Regular" pitchFamily="2" charset="-127"/>
        <a:ea typeface="프리젠테이션 4 Regular" pitchFamily="2"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안녕하세요. 팀 Wildfire Guardian입니다. 저희는 산불 확산 예측을 ‘누가 걸어서 대피할 수 있는지, 구조대가 누구에게 먼저 가야 하는지’로 바꾸는 시스템을 만들었습니다.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문제는 2025년 3월 경북 산불에서 시작했습니다. 영덕에서만 여덟 명이 숨졌고, 대부분이 60대에서 80대였습니다. 산불은 이미 탐지됐고 대피령도 내려졌지만, 경보는 주로 읍·면·동 단위로 전달됩니다. 농촌에서는 한 읍·면·동이 매우 넓기 때문에, 같은 지역 안에서도 걸어 나올 수 있는 주민과 구조가 필요한 주민이 섞여 있습니다. 평균적인 경보만으로는 이 차이를 볼 수 없습니다. 그래서 저희는 판단 단위를 행정구역이 아니라 개별 가구 위치로 낮췄습니다.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시스템은 네 단계입니다. 먼저 위성 화점, 기상, 지형, 토지피복 같은 공개 데이터를 모읍니다. 다음으로 앞으로 위험해질 375미터 셀을 예측합니다. 이 예측 모델은 국내 산불 여섯 건을 한 건씩 제외한 교차검증에서 평균 ROC-AUC 0.89를 보였습니다. 하지만 예측 자체가 끝은 아닙니다. 본 연구의 기여는 그 다음입니다. 시간에 따라 위험이 달라지는 도로망에서 대피 경로와 구조 경로를 계산하고, 그 결과를 구조 필요 여부와 출동 우선순위로 바꿉니다.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그림은 라우팅에 들어가는 위험 확률장입니다. 발화 후 12시간까지 세 시간 간격으로, 각 셀이 얼마나 위험해질지 계산했습니다. 이 위험면은 다음 단계에서 길의 비용으로 쓰입니다. 그래서 경로는 단순히 지금 가장 짧은 길이 아니라, 주민이나 구조대가 그 지점에 도착할 때 그 길이 안전한지를 함께 반영합니다. 이번 실행에서는 고위험 핵심 영역이 크게 이동하지 않아, 라우팅 입력으로 연결 가능성을 확인한 결과로 보는 것이 정확합니다.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다음은 실제 영덕 OpenStreetMap 도로망에서 라우팅을 적용한 결과입니다. 같은 출발지라도 단순 최단경로는 지금 가장 짧은 길을 고릅니다. 반면 미래 인지 경로는 도착 시점의 화재 위험을 보고 우회합니다. 구조대 경로도 진입로가 위험 임계값을 넘기 전에 들어갈 수 있는지를 계산합니다. 실험에서 도로와 대피소 후보, 소방 거점은 실제 자료를 사용했고, 화재와 지형은 합성 자료를 사용했습니다. 중요한 것은 시스템이 갈 수 없는 곳을 억지로 채우지 않고 도달 불가로 표시한다는 점입니다. 출동이 30분 늦어지면 도달 불가 출발지가 6곳에서 24곳으로 늘었습니다.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실제 산출물입니다. PoC 기준으로 439곳 중 272곳은 자력 대피가 가능했고, 167곳은 구조가 필요했습니다. 그중 구조대가 도달 가능한 곳은 143곳, 도달 불가능한 곳은 24곳입니다. 오른쪽 표는 우선순위 출동 목록입니다. 순위는 진입로가 위험해지기까지 남은 시간이 적은 곳부터 정합니다. 최단경로로 구조대를 보내면 143건 중 57건이 화재 위험 지역을 통과했습니다. 생존 인지 경로를 사용하면 평균 위험 노출은 6.12에서 1.71로 줄어, 약 72퍼센트 감소했습니다. 우회해도 줄지 않는 경우는 숨기지 않고 그대로 보고했습니다.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마지막으로 한계와 향후 계획입니다. 아직 실제 도로, 실제 예측 위험면, 실제 지형을 모두 결합한 구조 수요 재분석은 진행 중입니다. 현재 결과는 영덕 단일 화재 중심의 개념검증이고, 일부 실도로 경로에서는 지형 경사를 아직 반영하지 못했습니다. 다음 단계에서는 SRTM 지형과 실시간 기상 자료를 결합하고, 여러 화재와 지역으로 검증을 확장하겠습니다. 목표는 예쁜 지도가 아니라, 산불 예측을 가구별 대피 가능성, 구조 접근 가능성, 출동 우선순위로 바꾸는 신뢰 가능한 의사결정 지원 시스템을 만드는 것입니다.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이상으로 발표를 마치겠습니다. 감사합니다.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6BD20550-5404-82DC-FD2F-7FBC1F4DB66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Tree>
    <p:extLst>
      <p:ext uri="{BB962C8B-B14F-4D97-AF65-F5344CB8AC3E}">
        <p14:creationId xmlns:p14="http://schemas.microsoft.com/office/powerpoint/2010/main" val="1402344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F208763E-C4FB-4DD3-D67E-E42BA6E68B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1323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사용자 지정 레이아웃">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57129143-B21B-85D8-014A-66B1B85B62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69721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EF21976F-0898-722F-3F86-3933BDAC042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Tree>
    <p:extLst>
      <p:ext uri="{BB962C8B-B14F-4D97-AF65-F5344CB8AC3E}">
        <p14:creationId xmlns:p14="http://schemas.microsoft.com/office/powerpoint/2010/main" val="3433552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AB6A2C8-E69E-0BC7-971E-4982875ACB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5A73514-C4E6-ABD4-2E2F-4153C0B628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FFC925BC-E13C-B523-250F-82A2F7BA56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7242FC-EDE5-47C5-AF4C-FACF03AD8511}" type="datetimeFigureOut">
              <a:rPr lang="ko-KR" altLang="en-US" smtClean="0"/>
              <a:t>2026. 7. 26.</a:t>
            </a:fld>
            <a:endParaRPr lang="ko-KR" altLang="en-US"/>
          </a:p>
        </p:txBody>
      </p:sp>
      <p:sp>
        <p:nvSpPr>
          <p:cNvPr id="5" name="바닥글 개체 틀 4">
            <a:extLst>
              <a:ext uri="{FF2B5EF4-FFF2-40B4-BE49-F238E27FC236}">
                <a16:creationId xmlns:a16="http://schemas.microsoft.com/office/drawing/2014/main" id="{43A1E957-7B4C-2389-5C7A-0FF01658DD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FBDC3358-C8F4-BBBB-550C-29C5BC594A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53BB1A-41F7-416F-9A1F-FF8B61C9EA68}" type="slidenum">
              <a:rPr lang="ko-KR" altLang="en-US" smtClean="0"/>
              <a:t>‹#›</a:t>
            </a:fld>
            <a:endParaRPr lang="ko-KR" altLang="en-US"/>
          </a:p>
        </p:txBody>
      </p:sp>
    </p:spTree>
    <p:extLst>
      <p:ext uri="{BB962C8B-B14F-4D97-AF65-F5344CB8AC3E}">
        <p14:creationId xmlns:p14="http://schemas.microsoft.com/office/powerpoint/2010/main" val="381963744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AE4253CF-E9AC-F6D3-109D-C98FC6B30B4B}"/>
              </a:ext>
            </a:extLst>
          </p:cNvPr>
          <p:cNvSpPr txBox="1">
            <a:spLocks/>
          </p:cNvSpPr>
          <p:nvPr/>
        </p:nvSpPr>
        <p:spPr>
          <a:xfrm>
            <a:off x="759269" y="1048030"/>
            <a:ext cx="9419204" cy="469900"/>
          </a:xfrm>
          <a:prstGeom prst="rect">
            <a:avLst/>
          </a:prstGeom>
        </p:spPr>
        <p:txBody>
          <a:bodyPr vert="horz" lIns="91440" tIns="45720" rIns="91440" bIns="45720" rtlCol="0">
            <a:noAutofit/>
          </a:bodyPr>
          <a:lstStyle>
            <a:lvl1pPr marL="0" indent="0" algn="l" defTabSz="914400" rtl="0" eaLnBrk="1" latinLnBrk="1" hangingPunct="1">
              <a:lnSpc>
                <a:spcPct val="100000"/>
              </a:lnSpc>
              <a:spcBef>
                <a:spcPts val="0"/>
              </a:spcBef>
              <a:buFont typeface="Arial" panose="020B0604020202020204" pitchFamily="34" charset="0"/>
              <a:buNone/>
              <a:defRPr sz="4800" b="0" kern="1200">
                <a:solidFill>
                  <a:srgbClr val="002E60"/>
                </a:solidFill>
                <a:latin typeface="HY헤드라인M" panose="02030600000101010101" pitchFamily="18" charset="-127"/>
                <a:ea typeface="HY헤드라인M" panose="02030600000101010101" pitchFamily="18" charset="-127"/>
                <a:cs typeface="Pretendard ExtraBold" panose="02000903000000020004" pitchFamily="2" charset="-127"/>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ko-KR" sz="2400" b="1" dirty="0">
                <a:solidFill>
                  <a:schemeClr val="tx1"/>
                </a:solidFill>
              </a:rPr>
              <a:t>2026</a:t>
            </a:r>
            <a:r>
              <a:rPr lang="ko-KR" altLang="en-US" sz="2400" b="1" dirty="0">
                <a:solidFill>
                  <a:schemeClr val="tx1"/>
                </a:solidFill>
              </a:rPr>
              <a:t>년 제</a:t>
            </a:r>
            <a:r>
              <a:rPr lang="en-US" altLang="ko-KR" sz="2400" b="1" dirty="0">
                <a:solidFill>
                  <a:schemeClr val="tx1"/>
                </a:solidFill>
              </a:rPr>
              <a:t>8</a:t>
            </a:r>
            <a:r>
              <a:rPr lang="ko-KR" altLang="en-US" sz="2400" b="1" dirty="0">
                <a:solidFill>
                  <a:schemeClr val="tx1"/>
                </a:solidFill>
              </a:rPr>
              <a:t>회 </a:t>
            </a:r>
            <a:r>
              <a:rPr lang="ko-KR" altLang="en-US" sz="2400" b="1" dirty="0" err="1">
                <a:solidFill>
                  <a:schemeClr val="tx1"/>
                </a:solidFill>
              </a:rPr>
              <a:t>한국코드페어</a:t>
            </a:r>
            <a:r>
              <a:rPr lang="ko-KR" altLang="en-US" sz="2400" b="1" dirty="0">
                <a:solidFill>
                  <a:schemeClr val="tx1"/>
                </a:solidFill>
              </a:rPr>
              <a:t> </a:t>
            </a:r>
            <a:r>
              <a:rPr lang="en-US" altLang="ko-KR" sz="2400" b="1" dirty="0">
                <a:solidFill>
                  <a:schemeClr val="tx1"/>
                </a:solidFill>
              </a:rPr>
              <a:t>SW</a:t>
            </a:r>
            <a:r>
              <a:rPr lang="ko-KR" altLang="en-US" sz="2400" b="1" dirty="0">
                <a:solidFill>
                  <a:schemeClr val="tx1"/>
                </a:solidFill>
              </a:rPr>
              <a:t>공모전 </a:t>
            </a:r>
            <a:r>
              <a:rPr lang="en-US" altLang="ko-KR" sz="2400" b="1" dirty="0">
                <a:solidFill>
                  <a:schemeClr val="tx1"/>
                </a:solidFill>
              </a:rPr>
              <a:t>2</a:t>
            </a:r>
            <a:r>
              <a:rPr lang="ko-KR" altLang="en-US" sz="2400" b="1" dirty="0">
                <a:solidFill>
                  <a:schemeClr val="tx1"/>
                </a:solidFill>
              </a:rPr>
              <a:t>차 온라인 예선 </a:t>
            </a:r>
            <a:endParaRPr lang="en-US" altLang="ko-KR" sz="2400" b="1" dirty="0">
              <a:solidFill>
                <a:schemeClr val="tx1"/>
              </a:solidFill>
            </a:endParaRPr>
          </a:p>
        </p:txBody>
      </p:sp>
      <p:sp>
        <p:nvSpPr>
          <p:cNvPr id="4" name="모서리가 둥근 직사각형 11">
            <a:extLst>
              <a:ext uri="{FF2B5EF4-FFF2-40B4-BE49-F238E27FC236}">
                <a16:creationId xmlns:a16="http://schemas.microsoft.com/office/drawing/2014/main" id="{10AB7A38-A305-7538-59D7-9A6AA2779D29}"/>
              </a:ext>
            </a:extLst>
          </p:cNvPr>
          <p:cNvSpPr/>
          <p:nvPr/>
        </p:nvSpPr>
        <p:spPr>
          <a:xfrm>
            <a:off x="759270" y="5622886"/>
            <a:ext cx="5336730" cy="700732"/>
          </a:xfrm>
          <a:prstGeom prst="roundRect">
            <a:avLst/>
          </a:prstGeom>
          <a:solidFill>
            <a:schemeClr val="bg1"/>
          </a:solidFill>
          <a:ln>
            <a:noFill/>
          </a:ln>
          <a:effectLst>
            <a:outerShdw blurRad="363490" dist="182214" dir="1680000" sx="102451" sy="102451" algn="ctr" rotWithShape="0">
              <a:srgbClr val="000000">
                <a:alpha val="1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5" name="TextBox 4">
            <a:extLst>
              <a:ext uri="{FF2B5EF4-FFF2-40B4-BE49-F238E27FC236}">
                <a16:creationId xmlns:a16="http://schemas.microsoft.com/office/drawing/2014/main" id="{E5BA2192-94F0-8F13-1091-8BFA24FB1029}"/>
              </a:ext>
            </a:extLst>
          </p:cNvPr>
          <p:cNvSpPr txBox="1"/>
          <p:nvPr/>
        </p:nvSpPr>
        <p:spPr>
          <a:xfrm>
            <a:off x="837086" y="5742419"/>
            <a:ext cx="5149776" cy="461665"/>
          </a:xfrm>
          <a:prstGeom prst="rect">
            <a:avLst/>
          </a:prstGeom>
          <a:noFill/>
        </p:spPr>
        <p:txBody>
          <a:bodyPr wrap="square">
            <a:spAutoFit/>
          </a:bodyPr>
          <a:lstStyle/>
          <a:p>
            <a:r>
              <a:rPr lang="ko-KR" altLang="en-US" sz="2400" b="1" dirty="0" err="1">
                <a:latin typeface="HY헤드라인M" panose="02030600000101010101" pitchFamily="18" charset="-127"/>
                <a:ea typeface="HY헤드라인M" panose="02030600000101010101" pitchFamily="18" charset="-127"/>
              </a:rPr>
              <a:t>팀명</a:t>
            </a:r>
            <a:r>
              <a:rPr lang="ko-KR" altLang="en-US" sz="2400" b="1" dirty="0">
                <a:latin typeface="HY헤드라인M" panose="02030600000101010101" pitchFamily="18" charset="-127"/>
                <a:ea typeface="HY헤드라인M" panose="02030600000101010101" pitchFamily="18" charset="-127"/>
              </a:rPr>
              <a:t> </a:t>
            </a:r>
            <a:r>
              <a:rPr lang="en-US" altLang="ko-KR" sz="2400" b="1" dirty="0">
                <a:latin typeface="HY헤드라인M" panose="02030600000101010101" pitchFamily="18" charset="-127"/>
                <a:ea typeface="HY헤드라인M" panose="02030600000101010101" pitchFamily="18" charset="-127"/>
              </a:rPr>
              <a:t>:</a:t>
            </a:r>
            <a:r>
              <a:rPr sz="2000" b="1">
                <a:solidFill>
                  <a:srgbClr val="0E2841"/>
                </a:solidFill>
                <a:latin typeface="HY헤드라인M"/>
                <a:ea typeface="HY헤드라인M"/>
                <a:cs typeface="HY헤드라인M"/>
              </a:rPr>
              <a:t> Wildfire Guardian</a:t>
            </a:r>
            <a:endParaRPr lang="ko-KR" altLang="en-US" b="1" dirty="0">
              <a:latin typeface="HY헤드라인M" panose="02030600000101010101" pitchFamily="18" charset="-127"/>
              <a:ea typeface="HY헤드라인M" panose="02030600000101010101" pitchFamily="18" charset="-127"/>
            </a:endParaRPr>
          </a:p>
        </p:txBody>
      </p:sp>
      <p:sp>
        <p:nvSpPr>
          <p:cNvPr id="6" name="텍스트 개체 틀 15">
            <a:extLst>
              <a:ext uri="{FF2B5EF4-FFF2-40B4-BE49-F238E27FC236}">
                <a16:creationId xmlns:a16="http://schemas.microsoft.com/office/drawing/2014/main" id="{330000F8-72AA-D5FB-714D-0534A8558526}"/>
              </a:ext>
            </a:extLst>
          </p:cNvPr>
          <p:cNvSpPr txBox="1">
            <a:spLocks/>
          </p:cNvSpPr>
          <p:nvPr/>
        </p:nvSpPr>
        <p:spPr>
          <a:xfrm>
            <a:off x="719786" y="2106297"/>
            <a:ext cx="6374631" cy="861686"/>
          </a:xfrm>
          <a:prstGeom prst="rect">
            <a:avLst/>
          </a:prstGeom>
        </p:spPr>
        <p:txBody>
          <a:bodyPr wrap="none"/>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ko-KR" altLang="en-US" sz="5400" b="1" spc="-150" dirty="0" err="1">
                <a:latin typeface="HY헤드라인M" panose="02030600000101010101" pitchFamily="18" charset="-127"/>
                <a:ea typeface="HY헤드라인M" panose="02030600000101010101" pitchFamily="18" charset="-127"/>
              </a:rPr>
              <a:t>작품명</a:t>
            </a:r>
            <a:r>
              <a:rPr lang="ko-KR" altLang="en-US" sz="5400" b="1" spc="-150" dirty="0">
                <a:latin typeface="HY헤드라인M" panose="02030600000101010101" pitchFamily="18" charset="-127"/>
                <a:ea typeface="HY헤드라인M" panose="02030600000101010101" pitchFamily="18" charset="-127"/>
              </a:rPr>
              <a:t> </a:t>
            </a:r>
            <a:r>
              <a:rPr lang="en-US" altLang="ko-KR" sz="5400" b="1" spc="-150" dirty="0">
                <a:latin typeface="HY헤드라인M" panose="02030600000101010101" pitchFamily="18" charset="-127"/>
                <a:ea typeface="HY헤드라인M" panose="02030600000101010101" pitchFamily="18" charset="-127"/>
              </a:rPr>
              <a:t>: </a:t>
            </a:r>
            <a:r>
              <a:rPr sz="2700" b="1">
                <a:solidFill>
                  <a:srgbClr val="0E2841"/>
                </a:solidFill>
                <a:latin typeface="HY헤드라인M"/>
                <a:ea typeface="HY헤드라인M"/>
                <a:cs typeface="HY헤드라인M"/>
              </a:rPr>
              <a:t>Wildfire Guardian</a:t>
            </a:r>
            <a:endParaRPr lang="ko-KR" altLang="en-US" sz="5400" b="1" spc="-150" dirty="0">
              <a:latin typeface="HY헤드라인M" panose="02030600000101010101" pitchFamily="18" charset="-127"/>
              <a:ea typeface="HY헤드라인M" panose="02030600000101010101" pitchFamily="18" charset="-127"/>
            </a:endParaRPr>
          </a:p>
        </p:txBody>
      </p:sp>
      <p:sp>
        <p:nvSpPr>
          <p:cNvPr id="7" name="TextBox 6"/>
          <p:cNvSpPr txBox="1"/>
          <p:nvPr/>
        </p:nvSpPr>
        <p:spPr>
          <a:xfrm>
            <a:off x="777240" y="3310128"/>
            <a:ext cx="6675120" cy="577081"/>
          </a:xfrm>
          <a:prstGeom prst="rect">
            <a:avLst/>
          </a:prstGeom>
          <a:noFill/>
        </p:spPr>
        <p:txBody>
          <a:bodyPr wrap="square" lIns="25400" tIns="25400" rIns="25400" bIns="25400" anchor="t">
            <a:spAutoFit/>
          </a:bodyPr>
          <a:lstStyle/>
          <a:p>
            <a:pPr algn="l">
              <a:spcBef>
                <a:spcPts val="0"/>
              </a:spcBef>
              <a:spcAft>
                <a:spcPts val="500"/>
              </a:spcAft>
            </a:pPr>
            <a:r>
              <a:rPr sz="1600" b="1" dirty="0" err="1">
                <a:solidFill>
                  <a:srgbClr val="0E2841"/>
                </a:solidFill>
                <a:latin typeface="맑은 고딕"/>
                <a:ea typeface="맑은 고딕"/>
                <a:cs typeface="맑은 고딕"/>
              </a:rPr>
              <a:t>산불</a:t>
            </a:r>
            <a:r>
              <a:rPr sz="1600" b="1" dirty="0">
                <a:solidFill>
                  <a:srgbClr val="0E2841"/>
                </a:solidFill>
                <a:latin typeface="맑은 고딕"/>
                <a:ea typeface="맑은 고딕"/>
                <a:cs typeface="맑은 고딕"/>
              </a:rPr>
              <a:t> </a:t>
            </a:r>
            <a:r>
              <a:rPr sz="1600" b="1" dirty="0" err="1">
                <a:solidFill>
                  <a:srgbClr val="0E2841"/>
                </a:solidFill>
                <a:latin typeface="맑은 고딕"/>
                <a:ea typeface="맑은 고딕"/>
                <a:cs typeface="맑은 고딕"/>
              </a:rPr>
              <a:t>확산</a:t>
            </a:r>
            <a:r>
              <a:rPr sz="1600" b="1" dirty="0">
                <a:solidFill>
                  <a:srgbClr val="0E2841"/>
                </a:solidFill>
                <a:latin typeface="맑은 고딕"/>
                <a:ea typeface="맑은 고딕"/>
                <a:cs typeface="맑은 고딕"/>
              </a:rPr>
              <a:t> </a:t>
            </a:r>
            <a:r>
              <a:rPr sz="1600" b="1" dirty="0" err="1">
                <a:solidFill>
                  <a:srgbClr val="0E2841"/>
                </a:solidFill>
                <a:latin typeface="맑은 고딕"/>
                <a:ea typeface="맑은 고딕"/>
                <a:cs typeface="맑은 고딕"/>
              </a:rPr>
              <a:t>예측을</a:t>
            </a:r>
            <a:r>
              <a:rPr sz="1600" b="1" dirty="0">
                <a:solidFill>
                  <a:srgbClr val="0E2841"/>
                </a:solidFill>
                <a:latin typeface="맑은 고딕"/>
                <a:ea typeface="맑은 고딕"/>
                <a:cs typeface="맑은 고딕"/>
              </a:rPr>
              <a:t> </a:t>
            </a:r>
            <a:r>
              <a:rPr sz="1600" b="1" dirty="0" err="1">
                <a:solidFill>
                  <a:srgbClr val="0E2841"/>
                </a:solidFill>
                <a:latin typeface="맑은 고딕"/>
                <a:ea typeface="맑은 고딕"/>
                <a:cs typeface="맑은 고딕"/>
              </a:rPr>
              <a:t>가구</a:t>
            </a:r>
            <a:r>
              <a:rPr sz="1600" b="1" dirty="0">
                <a:solidFill>
                  <a:srgbClr val="0E2841"/>
                </a:solidFill>
                <a:latin typeface="맑은 고딕"/>
                <a:ea typeface="맑은 고딕"/>
                <a:cs typeface="맑은 고딕"/>
              </a:rPr>
              <a:t> </a:t>
            </a:r>
            <a:r>
              <a:rPr lang="ko-KR" altLang="en-US" sz="1600" b="1" dirty="0">
                <a:solidFill>
                  <a:srgbClr val="0E2841"/>
                </a:solidFill>
                <a:latin typeface="맑은 고딕"/>
                <a:ea typeface="맑은 고딕"/>
                <a:cs typeface="맑은 고딕"/>
              </a:rPr>
              <a:t>위치 단위</a:t>
            </a:r>
            <a:r>
              <a:rPr sz="1600" b="1" dirty="0">
                <a:solidFill>
                  <a:srgbClr val="0E2841"/>
                </a:solidFill>
                <a:latin typeface="맑은 고딕"/>
                <a:ea typeface="맑은 고딕"/>
                <a:cs typeface="맑은 고딕"/>
              </a:rPr>
              <a:t> </a:t>
            </a:r>
            <a:r>
              <a:rPr sz="1600" b="1" dirty="0" err="1">
                <a:solidFill>
                  <a:srgbClr val="0E2841"/>
                </a:solidFill>
                <a:latin typeface="맑은 고딕"/>
                <a:ea typeface="맑은 고딕"/>
                <a:cs typeface="맑은 고딕"/>
              </a:rPr>
              <a:t>대피·구조</a:t>
            </a:r>
            <a:r>
              <a:rPr sz="1600" b="1" dirty="0">
                <a:solidFill>
                  <a:srgbClr val="0E2841"/>
                </a:solidFill>
                <a:latin typeface="맑은 고딕"/>
                <a:ea typeface="맑은 고딕"/>
                <a:cs typeface="맑은 고딕"/>
              </a:rPr>
              <a:t> </a:t>
            </a:r>
            <a:r>
              <a:rPr sz="1600" b="1" dirty="0" err="1">
                <a:solidFill>
                  <a:srgbClr val="0E2841"/>
                </a:solidFill>
                <a:latin typeface="맑은 고딕"/>
                <a:ea typeface="맑은 고딕"/>
                <a:cs typeface="맑은 고딕"/>
              </a:rPr>
              <a:t>의사결정으로</a:t>
            </a:r>
            <a:r>
              <a:rPr sz="1600" b="1" dirty="0">
                <a:solidFill>
                  <a:srgbClr val="0E2841"/>
                </a:solidFill>
                <a:latin typeface="맑은 고딕"/>
                <a:ea typeface="맑은 고딕"/>
                <a:cs typeface="맑은 고딕"/>
              </a:rPr>
              <a:t> </a:t>
            </a:r>
            <a:r>
              <a:rPr sz="1600" b="1" dirty="0" err="1">
                <a:solidFill>
                  <a:srgbClr val="0E2841"/>
                </a:solidFill>
                <a:latin typeface="맑은 고딕"/>
                <a:ea typeface="맑은 고딕"/>
                <a:cs typeface="맑은 고딕"/>
              </a:rPr>
              <a:t>전환합니다</a:t>
            </a:r>
            <a:r>
              <a:rPr sz="1600" b="1" dirty="0">
                <a:solidFill>
                  <a:srgbClr val="0E2841"/>
                </a:solidFill>
                <a:latin typeface="맑은 고딕"/>
                <a:ea typeface="맑은 고딕"/>
                <a:cs typeface="맑은 고딕"/>
              </a:rPr>
              <a:t>.</a:t>
            </a:r>
          </a:p>
          <a:p>
            <a:pPr algn="l">
              <a:spcBef>
                <a:spcPts val="0"/>
              </a:spcBef>
              <a:spcAft>
                <a:spcPts val="0"/>
              </a:spcAft>
            </a:pPr>
            <a:r>
              <a:rPr sz="1400" b="0" dirty="0" err="1">
                <a:solidFill>
                  <a:srgbClr val="2A3845"/>
                </a:solidFill>
                <a:latin typeface="맑은 고딕"/>
                <a:ea typeface="맑은 고딕"/>
                <a:cs typeface="맑은 고딕"/>
              </a:rPr>
              <a:t>걸어서</a:t>
            </a:r>
            <a:r>
              <a:rPr sz="1400" b="0" dirty="0">
                <a:solidFill>
                  <a:srgbClr val="2A3845"/>
                </a:solidFill>
                <a:latin typeface="맑은 고딕"/>
                <a:ea typeface="맑은 고딕"/>
                <a:cs typeface="맑은 고딕"/>
              </a:rPr>
              <a:t> </a:t>
            </a:r>
            <a:r>
              <a:rPr lang="ko-KR" altLang="en-US" sz="1400" b="0" dirty="0">
                <a:solidFill>
                  <a:srgbClr val="2A3845"/>
                </a:solidFill>
                <a:latin typeface="맑은 고딕"/>
                <a:ea typeface="맑은 고딕"/>
                <a:cs typeface="맑은 고딕"/>
              </a:rPr>
              <a:t>대</a:t>
            </a:r>
            <a:r>
              <a:rPr sz="1400" b="0" dirty="0" err="1">
                <a:solidFill>
                  <a:srgbClr val="2A3845"/>
                </a:solidFill>
                <a:latin typeface="맑은 고딕"/>
                <a:ea typeface="맑은 고딕"/>
                <a:cs typeface="맑은 고딕"/>
              </a:rPr>
              <a:t>피</a:t>
            </a:r>
            <a:r>
              <a:rPr lang="ko-KR" altLang="en-US" sz="1400" b="0" dirty="0">
                <a:solidFill>
                  <a:srgbClr val="2A3845"/>
                </a:solidFill>
                <a:latin typeface="맑은 고딕"/>
                <a:ea typeface="맑은 고딕"/>
                <a:cs typeface="맑은 고딕"/>
              </a:rPr>
              <a:t>하기 어려운</a:t>
            </a:r>
            <a:r>
              <a:rPr sz="1400" b="0" dirty="0">
                <a:solidFill>
                  <a:srgbClr val="2A3845"/>
                </a:solidFill>
                <a:latin typeface="맑은 고딕"/>
                <a:ea typeface="맑은 고딕"/>
                <a:cs typeface="맑은 고딕"/>
              </a:rPr>
              <a:t> </a:t>
            </a:r>
            <a:r>
              <a:rPr sz="1400" b="0" dirty="0" err="1">
                <a:solidFill>
                  <a:srgbClr val="2A3845"/>
                </a:solidFill>
                <a:latin typeface="맑은 고딕"/>
                <a:ea typeface="맑은 고딕"/>
                <a:cs typeface="맑은 고딕"/>
              </a:rPr>
              <a:t>주민을</a:t>
            </a:r>
            <a:r>
              <a:rPr sz="1400" b="0" dirty="0">
                <a:solidFill>
                  <a:srgbClr val="2A3845"/>
                </a:solidFill>
                <a:latin typeface="맑은 고딕"/>
                <a:ea typeface="맑은 고딕"/>
                <a:cs typeface="맑은 고딕"/>
              </a:rPr>
              <a:t> </a:t>
            </a:r>
            <a:r>
              <a:rPr sz="1400" b="0" dirty="0" err="1">
                <a:solidFill>
                  <a:srgbClr val="2A3845"/>
                </a:solidFill>
                <a:latin typeface="맑은 고딕"/>
                <a:ea typeface="맑은 고딕"/>
                <a:cs typeface="맑은 고딕"/>
              </a:rPr>
              <a:t>먼저</a:t>
            </a:r>
            <a:r>
              <a:rPr sz="1400" b="0" dirty="0">
                <a:solidFill>
                  <a:srgbClr val="2A3845"/>
                </a:solidFill>
                <a:latin typeface="맑은 고딕"/>
                <a:ea typeface="맑은 고딕"/>
                <a:cs typeface="맑은 고딕"/>
              </a:rPr>
              <a:t> </a:t>
            </a:r>
            <a:r>
              <a:rPr sz="1400" b="0" dirty="0" err="1">
                <a:solidFill>
                  <a:srgbClr val="2A3845"/>
                </a:solidFill>
                <a:latin typeface="맑은 고딕"/>
                <a:ea typeface="맑은 고딕"/>
                <a:cs typeface="맑은 고딕"/>
              </a:rPr>
              <a:t>찾고</a:t>
            </a:r>
            <a:r>
              <a:rPr sz="1400" b="0" dirty="0">
                <a:solidFill>
                  <a:srgbClr val="2A3845"/>
                </a:solidFill>
                <a:latin typeface="맑은 고딕"/>
                <a:ea typeface="맑은 고딕"/>
                <a:cs typeface="맑은 고딕"/>
              </a:rPr>
              <a:t>, </a:t>
            </a:r>
            <a:r>
              <a:rPr sz="1400" b="0" dirty="0" err="1">
                <a:solidFill>
                  <a:srgbClr val="2A3845"/>
                </a:solidFill>
                <a:latin typeface="맑은 고딕"/>
                <a:ea typeface="맑은 고딕"/>
                <a:cs typeface="맑은 고딕"/>
              </a:rPr>
              <a:t>구조</a:t>
            </a:r>
            <a:r>
              <a:rPr sz="1400" b="0" dirty="0">
                <a:solidFill>
                  <a:srgbClr val="2A3845"/>
                </a:solidFill>
                <a:latin typeface="맑은 고딕"/>
                <a:ea typeface="맑은 고딕"/>
                <a:cs typeface="맑은 고딕"/>
              </a:rPr>
              <a:t> </a:t>
            </a:r>
            <a:r>
              <a:rPr sz="1400" b="0" dirty="0" err="1">
                <a:solidFill>
                  <a:srgbClr val="2A3845"/>
                </a:solidFill>
                <a:latin typeface="맑은 고딕"/>
                <a:ea typeface="맑은 고딕"/>
                <a:cs typeface="맑은 고딕"/>
              </a:rPr>
              <a:t>순서를</a:t>
            </a:r>
            <a:r>
              <a:rPr sz="1400" b="0" dirty="0">
                <a:solidFill>
                  <a:srgbClr val="2A3845"/>
                </a:solidFill>
                <a:latin typeface="맑은 고딕"/>
                <a:ea typeface="맑은 고딕"/>
                <a:cs typeface="맑은 고딕"/>
              </a:rPr>
              <a:t> </a:t>
            </a:r>
            <a:r>
              <a:rPr sz="1400" b="0" dirty="0" err="1">
                <a:solidFill>
                  <a:srgbClr val="2A3845"/>
                </a:solidFill>
                <a:latin typeface="맑은 고딕"/>
                <a:ea typeface="맑은 고딕"/>
                <a:cs typeface="맑은 고딕"/>
              </a:rPr>
              <a:t>정합니다</a:t>
            </a:r>
            <a:r>
              <a:rPr sz="1400" b="0" dirty="0">
                <a:solidFill>
                  <a:srgbClr val="2A3845"/>
                </a:solidFill>
                <a:latin typeface="맑은 고딕"/>
                <a:ea typeface="맑은 고딕"/>
                <a:cs typeface="맑은 고딕"/>
              </a:rPr>
              <a:t>.</a:t>
            </a:r>
          </a:p>
        </p:txBody>
      </p:sp>
    </p:spTree>
    <p:extLst>
      <p:ext uri="{BB962C8B-B14F-4D97-AF65-F5344CB8AC3E}">
        <p14:creationId xmlns:p14="http://schemas.microsoft.com/office/powerpoint/2010/main" val="816207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57200"/>
            <a:ext cx="11155680" cy="430887"/>
          </a:xfrm>
          <a:prstGeom prst="rect">
            <a:avLst/>
          </a:prstGeom>
          <a:noFill/>
        </p:spPr>
        <p:txBody>
          <a:bodyPr wrap="square" lIns="0" tIns="0">
            <a:spAutoFit/>
          </a:bodyPr>
          <a:lstStyle/>
          <a:p>
            <a:r>
              <a:rPr sz="2500" b="1" dirty="0">
                <a:solidFill>
                  <a:srgbClr val="0E2841"/>
                </a:solidFill>
                <a:latin typeface="HY헤드라인M"/>
                <a:ea typeface="HY헤드라인M"/>
                <a:cs typeface="HY헤드라인M"/>
              </a:rPr>
              <a:t>01. </a:t>
            </a:r>
            <a:r>
              <a:rPr sz="2500" b="1" dirty="0" err="1">
                <a:solidFill>
                  <a:srgbClr val="0E2841"/>
                </a:solidFill>
                <a:latin typeface="HY헤드라인M"/>
                <a:ea typeface="HY헤드라인M"/>
                <a:cs typeface="HY헤드라인M"/>
              </a:rPr>
              <a:t>문제</a:t>
            </a:r>
            <a:r>
              <a:rPr sz="2500" b="1" dirty="0">
                <a:solidFill>
                  <a:srgbClr val="0E2841"/>
                </a:solidFill>
                <a:latin typeface="HY헤드라인M"/>
                <a:ea typeface="HY헤드라인M"/>
                <a:cs typeface="HY헤드라인M"/>
              </a:rPr>
              <a:t> </a:t>
            </a:r>
            <a:r>
              <a:rPr sz="2500" b="1" dirty="0" err="1">
                <a:solidFill>
                  <a:srgbClr val="0E2841"/>
                </a:solidFill>
                <a:latin typeface="HY헤드라인M"/>
                <a:ea typeface="HY헤드라인M"/>
                <a:cs typeface="HY헤드라인M"/>
              </a:rPr>
              <a:t>제기</a:t>
            </a:r>
            <a:r>
              <a:rPr sz="2500" b="1" dirty="0">
                <a:solidFill>
                  <a:srgbClr val="0E2841"/>
                </a:solidFill>
                <a:latin typeface="HY헤드라인M"/>
                <a:ea typeface="HY헤드라인M"/>
                <a:cs typeface="HY헤드라인M"/>
              </a:rPr>
              <a:t> - </a:t>
            </a:r>
            <a:r>
              <a:rPr sz="2500" b="1" dirty="0" err="1">
                <a:solidFill>
                  <a:srgbClr val="0E2841"/>
                </a:solidFill>
                <a:latin typeface="HY헤드라인M"/>
                <a:ea typeface="HY헤드라인M"/>
                <a:cs typeface="HY헤드라인M"/>
              </a:rPr>
              <a:t>예보는</a:t>
            </a:r>
            <a:r>
              <a:rPr sz="2500" b="1" dirty="0">
                <a:solidFill>
                  <a:srgbClr val="0E2841"/>
                </a:solidFill>
                <a:latin typeface="HY헤드라인M"/>
                <a:ea typeface="HY헤드라인M"/>
                <a:cs typeface="HY헤드라인M"/>
              </a:rPr>
              <a:t> </a:t>
            </a:r>
            <a:r>
              <a:rPr sz="2500" b="1" dirty="0" err="1">
                <a:solidFill>
                  <a:srgbClr val="0E2841"/>
                </a:solidFill>
                <a:latin typeface="HY헤드라인M"/>
                <a:ea typeface="HY헤드라인M"/>
                <a:cs typeface="HY헤드라인M"/>
              </a:rPr>
              <a:t>작동했지만</a:t>
            </a:r>
            <a:r>
              <a:rPr sz="2500" b="1" dirty="0">
                <a:solidFill>
                  <a:srgbClr val="0E2841"/>
                </a:solidFill>
                <a:latin typeface="HY헤드라인M"/>
                <a:ea typeface="HY헤드라인M"/>
                <a:cs typeface="HY헤드라인M"/>
              </a:rPr>
              <a:t> </a:t>
            </a:r>
            <a:r>
              <a:rPr lang="ko-KR" altLang="en-US" sz="2500" b="1" dirty="0">
                <a:solidFill>
                  <a:srgbClr val="0E2841"/>
                </a:solidFill>
                <a:latin typeface="HY헤드라인M"/>
                <a:ea typeface="HY헤드라인M"/>
                <a:cs typeface="HY헤드라인M"/>
              </a:rPr>
              <a:t>개인별 대피 판단은 없었습니다</a:t>
            </a:r>
            <a:endParaRPr sz="2500" b="1" dirty="0">
              <a:solidFill>
                <a:srgbClr val="0E2841"/>
              </a:solidFill>
              <a:latin typeface="HY헤드라인M"/>
              <a:ea typeface="HY헤드라인M"/>
              <a:cs typeface="HY헤드라인M"/>
            </a:endParaRPr>
          </a:p>
        </p:txBody>
      </p:sp>
      <p:pic>
        <p:nvPicPr>
          <p:cNvPr id="3" name="Picture 2" descr="problem_chain.png"/>
          <p:cNvPicPr>
            <a:picLocks noChangeAspect="1"/>
          </p:cNvPicPr>
          <p:nvPr/>
        </p:nvPicPr>
        <p:blipFill>
          <a:blip r:embed="rId3"/>
          <a:stretch>
            <a:fillRect/>
          </a:stretch>
        </p:blipFill>
        <p:spPr>
          <a:xfrm>
            <a:off x="521156" y="1417320"/>
            <a:ext cx="11146639" cy="2788920"/>
          </a:xfrm>
          <a:prstGeom prst="rect">
            <a:avLst/>
          </a:prstGeom>
        </p:spPr>
      </p:pic>
      <p:sp>
        <p:nvSpPr>
          <p:cNvPr id="4" name="Rounded Rectangle 3"/>
          <p:cNvSpPr/>
          <p:nvPr/>
        </p:nvSpPr>
        <p:spPr>
          <a:xfrm>
            <a:off x="502920" y="4407408"/>
            <a:ext cx="11183112" cy="1536192"/>
          </a:xfrm>
          <a:prstGeom prst="roundRect">
            <a:avLst>
              <a:gd name="adj" fmla="val 8000"/>
            </a:avLst>
          </a:prstGeom>
          <a:solidFill>
            <a:srgbClr val="F2F5F8"/>
          </a:solidFill>
          <a:ln w="1524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416552" y="4645152"/>
            <a:ext cx="18288" cy="1060704"/>
          </a:xfrm>
          <a:prstGeom prst="rect">
            <a:avLst/>
          </a:prstGeom>
          <a:solidFill>
            <a:srgbClr val="C9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4553712"/>
            <a:ext cx="3063240" cy="1243584"/>
          </a:xfrm>
          <a:prstGeom prst="rect">
            <a:avLst/>
          </a:prstGeom>
          <a:noFill/>
        </p:spPr>
        <p:txBody>
          <a:bodyPr wrap="square" lIns="25400" tIns="25400" rIns="25400" bIns="25400" anchor="ctr">
            <a:spAutoFit/>
          </a:bodyPr>
          <a:lstStyle/>
          <a:p>
            <a:pPr algn="ctr">
              <a:spcBef>
                <a:spcPts val="0"/>
              </a:spcBef>
              <a:spcAft>
                <a:spcPts val="200"/>
              </a:spcAft>
            </a:pPr>
            <a:r>
              <a:rPr sz="1600" b="1" dirty="0" err="1">
                <a:solidFill>
                  <a:srgbClr val="E97132"/>
                </a:solidFill>
                <a:latin typeface="HY헤드라인M"/>
                <a:ea typeface="HY헤드라인M"/>
                <a:cs typeface="HY헤드라인M"/>
              </a:rPr>
              <a:t>피해규모</a:t>
            </a:r>
            <a:r>
              <a:rPr sz="1600" b="1" dirty="0">
                <a:solidFill>
                  <a:srgbClr val="E97132"/>
                </a:solidFill>
                <a:latin typeface="HY헤드라인M"/>
                <a:ea typeface="HY헤드라인M"/>
                <a:cs typeface="HY헤드라인M"/>
              </a:rPr>
              <a:t>: </a:t>
            </a:r>
            <a:r>
              <a:rPr sz="4000" b="1" dirty="0">
                <a:solidFill>
                  <a:srgbClr val="E97132"/>
                </a:solidFill>
                <a:latin typeface="HY헤드라인M"/>
                <a:ea typeface="HY헤드라인M"/>
                <a:cs typeface="HY헤드라인M"/>
              </a:rPr>
              <a:t>8명</a:t>
            </a:r>
          </a:p>
          <a:p>
            <a:pPr algn="ctr">
              <a:spcBef>
                <a:spcPts val="0"/>
              </a:spcBef>
              <a:spcAft>
                <a:spcPts val="0"/>
              </a:spcAft>
            </a:pPr>
            <a:r>
              <a:rPr sz="1200" b="0" dirty="0" err="1">
                <a:solidFill>
                  <a:srgbClr val="6B7A88"/>
                </a:solidFill>
                <a:latin typeface="맑은 고딕"/>
                <a:ea typeface="맑은 고딕"/>
                <a:cs typeface="맑은 고딕"/>
              </a:rPr>
              <a:t>대한민국 역사상 최악의 산불 중 영덕 지역 사망자</a:t>
            </a:r>
          </a:p>
        </p:txBody>
      </p:sp>
      <p:sp>
        <p:nvSpPr>
          <p:cNvPr id="7" name="TextBox 6"/>
          <p:cNvSpPr txBox="1"/>
          <p:nvPr/>
        </p:nvSpPr>
        <p:spPr>
          <a:xfrm>
            <a:off x="4709159" y="4851622"/>
            <a:ext cx="6583680" cy="702628"/>
          </a:xfrm>
          <a:prstGeom prst="rect">
            <a:avLst/>
          </a:prstGeom>
          <a:noFill/>
        </p:spPr>
        <p:txBody>
          <a:bodyPr wrap="square" lIns="25400" tIns="25400" rIns="25400" bIns="25400" anchor="ctr">
            <a:spAutoFit/>
          </a:bodyPr>
          <a:lstStyle/>
          <a:p>
            <a:pPr algn="l">
              <a:lnSpc>
                <a:spcPct val="140000"/>
              </a:lnSpc>
              <a:spcBef>
                <a:spcPts val="0"/>
              </a:spcBef>
              <a:spcAft>
                <a:spcPts val="500"/>
              </a:spcAft>
            </a:pPr>
            <a:r>
              <a:rPr sz="1450" b="0" dirty="0" err="1">
                <a:solidFill>
                  <a:srgbClr val="2A3845"/>
                </a:solidFill>
                <a:latin typeface="맑은 고딕"/>
                <a:ea typeface="맑은 고딕"/>
                <a:cs typeface="맑은 고딕"/>
              </a:rPr>
              <a:t>거동이</a:t>
            </a:r>
            <a:r>
              <a:rPr sz="1450" b="0" dirty="0">
                <a:solidFill>
                  <a:srgbClr val="2A3845"/>
                </a:solidFill>
                <a:latin typeface="맑은 고딕"/>
                <a:ea typeface="맑은 고딕"/>
                <a:cs typeface="맑은 고딕"/>
              </a:rPr>
              <a:t> </a:t>
            </a:r>
            <a:r>
              <a:rPr sz="1450" b="0" dirty="0" err="1">
                <a:solidFill>
                  <a:srgbClr val="2A3845"/>
                </a:solidFill>
                <a:latin typeface="맑은 고딕"/>
                <a:ea typeface="맑은 고딕"/>
                <a:cs typeface="맑은 고딕"/>
              </a:rPr>
              <a:t>어려운</a:t>
            </a:r>
            <a:r>
              <a:rPr sz="1450" b="0" dirty="0">
                <a:solidFill>
                  <a:srgbClr val="2A3845"/>
                </a:solidFill>
                <a:latin typeface="맑은 고딕"/>
                <a:ea typeface="맑은 고딕"/>
                <a:cs typeface="맑은 고딕"/>
              </a:rPr>
              <a:t> </a:t>
            </a:r>
            <a:r>
              <a:rPr sz="1450" b="0" dirty="0" err="1">
                <a:solidFill>
                  <a:srgbClr val="2A3845"/>
                </a:solidFill>
                <a:latin typeface="맑은 고딕"/>
                <a:ea typeface="맑은 고딕"/>
                <a:cs typeface="맑은 고딕"/>
              </a:rPr>
              <a:t>주민에게는</a:t>
            </a:r>
            <a:r>
              <a:rPr sz="1450" b="0" dirty="0">
                <a:solidFill>
                  <a:srgbClr val="2A3845"/>
                </a:solidFill>
                <a:latin typeface="맑은 고딕"/>
                <a:ea typeface="맑은 고딕"/>
                <a:cs typeface="맑은 고딕"/>
              </a:rPr>
              <a:t> </a:t>
            </a:r>
            <a:r>
              <a:rPr sz="1450" b="1" dirty="0" err="1">
                <a:solidFill>
                  <a:srgbClr val="0E2841"/>
                </a:solidFill>
                <a:latin typeface="맑은 고딕"/>
                <a:ea typeface="맑은 고딕"/>
                <a:cs typeface="맑은 고딕"/>
              </a:rPr>
              <a:t>구조</a:t>
            </a:r>
            <a:r>
              <a:rPr sz="1450" b="1" dirty="0">
                <a:solidFill>
                  <a:srgbClr val="0E2841"/>
                </a:solidFill>
                <a:latin typeface="맑은 고딕"/>
                <a:ea typeface="맑은 고딕"/>
                <a:cs typeface="맑은 고딕"/>
              </a:rPr>
              <a:t> </a:t>
            </a:r>
            <a:r>
              <a:rPr sz="1450" b="1" dirty="0" err="1">
                <a:solidFill>
                  <a:srgbClr val="0E2841"/>
                </a:solidFill>
                <a:latin typeface="맑은 고딕"/>
                <a:ea typeface="맑은 고딕"/>
                <a:cs typeface="맑은 고딕"/>
              </a:rPr>
              <a:t>우선순위</a:t>
            </a:r>
            <a:r>
              <a:rPr sz="1450" b="0" dirty="0" err="1">
                <a:solidFill>
                  <a:srgbClr val="2A3845"/>
                </a:solidFill>
                <a:latin typeface="맑은 고딕"/>
                <a:ea typeface="맑은 고딕"/>
                <a:cs typeface="맑은 고딕"/>
              </a:rPr>
              <a:t>와</a:t>
            </a:r>
            <a:r>
              <a:rPr sz="1450" b="0" dirty="0">
                <a:solidFill>
                  <a:srgbClr val="2A3845"/>
                </a:solidFill>
                <a:latin typeface="맑은 고딕"/>
                <a:ea typeface="맑은 고딕"/>
                <a:cs typeface="맑은 고딕"/>
              </a:rPr>
              <a:t> </a:t>
            </a:r>
            <a:r>
              <a:rPr sz="1450" b="1" dirty="0" err="1">
                <a:solidFill>
                  <a:srgbClr val="0E2841"/>
                </a:solidFill>
                <a:latin typeface="맑은 고딕"/>
                <a:ea typeface="맑은 고딕"/>
                <a:cs typeface="맑은 고딕"/>
              </a:rPr>
              <a:t>안전한</a:t>
            </a:r>
            <a:r>
              <a:rPr sz="1450" b="1" dirty="0">
                <a:solidFill>
                  <a:srgbClr val="0E2841"/>
                </a:solidFill>
                <a:latin typeface="맑은 고딕"/>
                <a:ea typeface="맑은 고딕"/>
                <a:cs typeface="맑은 고딕"/>
              </a:rPr>
              <a:t> </a:t>
            </a:r>
            <a:r>
              <a:rPr sz="1450" b="1" dirty="0" err="1">
                <a:solidFill>
                  <a:srgbClr val="0E2841"/>
                </a:solidFill>
                <a:latin typeface="맑은 고딕"/>
                <a:ea typeface="맑은 고딕"/>
                <a:cs typeface="맑은 고딕"/>
              </a:rPr>
              <a:t>이동</a:t>
            </a:r>
            <a:r>
              <a:rPr lang="ko-KR" altLang="en-US" sz="1450" b="1" dirty="0">
                <a:solidFill>
                  <a:srgbClr val="0E2841"/>
                </a:solidFill>
                <a:latin typeface="맑은 고딕"/>
                <a:ea typeface="맑은 고딕"/>
                <a:cs typeface="맑은 고딕"/>
              </a:rPr>
              <a:t> </a:t>
            </a:r>
            <a:r>
              <a:rPr sz="1450" b="1" dirty="0" err="1">
                <a:solidFill>
                  <a:srgbClr val="0E2841"/>
                </a:solidFill>
                <a:latin typeface="맑은 고딕"/>
                <a:ea typeface="맑은 고딕"/>
                <a:cs typeface="맑은 고딕"/>
              </a:rPr>
              <a:t>경로</a:t>
            </a:r>
            <a:r>
              <a:rPr sz="1450" b="0" dirty="0" err="1">
                <a:solidFill>
                  <a:srgbClr val="2A3845"/>
                </a:solidFill>
                <a:latin typeface="맑은 고딕"/>
                <a:ea typeface="맑은 고딕"/>
                <a:cs typeface="맑은 고딕"/>
              </a:rPr>
              <a:t>가</a:t>
            </a:r>
            <a:r>
              <a:rPr sz="1450" b="0" dirty="0">
                <a:solidFill>
                  <a:srgbClr val="2A3845"/>
                </a:solidFill>
                <a:latin typeface="맑은 고딕"/>
                <a:ea typeface="맑은 고딕"/>
                <a:cs typeface="맑은 고딕"/>
              </a:rPr>
              <a:t> </a:t>
            </a:r>
            <a:r>
              <a:rPr sz="1450" b="0" dirty="0" err="1">
                <a:solidFill>
                  <a:srgbClr val="2A3845"/>
                </a:solidFill>
                <a:latin typeface="맑은 고딕"/>
                <a:ea typeface="맑은 고딕"/>
                <a:cs typeface="맑은 고딕"/>
              </a:rPr>
              <a:t>필요합니다</a:t>
            </a:r>
            <a:endParaRPr sz="1450" b="0" dirty="0">
              <a:solidFill>
                <a:srgbClr val="2A3845"/>
              </a:solidFill>
              <a:latin typeface="맑은 고딕"/>
              <a:ea typeface="맑은 고딕"/>
              <a:cs typeface="맑은 고딕"/>
            </a:endParaRPr>
          </a:p>
          <a:p>
            <a:pPr algn="l">
              <a:lnSpc>
                <a:spcPct val="140000"/>
              </a:lnSpc>
              <a:spcBef>
                <a:spcPts val="0"/>
              </a:spcBef>
              <a:spcAft>
                <a:spcPts val="0"/>
              </a:spcAft>
            </a:pPr>
            <a:r>
              <a:rPr sz="1450" b="0" dirty="0" err="1">
                <a:solidFill>
                  <a:srgbClr val="2A3845"/>
                </a:solidFill>
                <a:latin typeface="맑은 고딕"/>
                <a:ea typeface="맑은 고딕"/>
                <a:cs typeface="맑은 고딕"/>
              </a:rPr>
              <a:t>판단</a:t>
            </a:r>
            <a:r>
              <a:rPr sz="1450" b="0" dirty="0">
                <a:solidFill>
                  <a:srgbClr val="2A3845"/>
                </a:solidFill>
                <a:latin typeface="맑은 고딕"/>
                <a:ea typeface="맑은 고딕"/>
                <a:cs typeface="맑은 고딕"/>
              </a:rPr>
              <a:t> </a:t>
            </a:r>
            <a:r>
              <a:rPr sz="1450" b="0" dirty="0" err="1">
                <a:solidFill>
                  <a:srgbClr val="2A3845"/>
                </a:solidFill>
                <a:latin typeface="맑은 고딕"/>
                <a:ea typeface="맑은 고딕"/>
                <a:cs typeface="맑은 고딕"/>
              </a:rPr>
              <a:t>단위를</a:t>
            </a:r>
            <a:r>
              <a:rPr sz="1450" b="0" dirty="0">
                <a:solidFill>
                  <a:srgbClr val="2A3845"/>
                </a:solidFill>
                <a:latin typeface="맑은 고딕"/>
                <a:ea typeface="맑은 고딕"/>
                <a:cs typeface="맑은 고딕"/>
              </a:rPr>
              <a:t> </a:t>
            </a:r>
            <a:r>
              <a:rPr sz="1450" b="0" dirty="0" err="1">
                <a:solidFill>
                  <a:srgbClr val="2A3845"/>
                </a:solidFill>
                <a:latin typeface="맑은 고딕"/>
                <a:ea typeface="맑은 고딕"/>
                <a:cs typeface="맑은 고딕"/>
              </a:rPr>
              <a:t>행정구역에서</a:t>
            </a:r>
            <a:r>
              <a:rPr sz="1450" b="0" dirty="0">
                <a:solidFill>
                  <a:srgbClr val="2A3845"/>
                </a:solidFill>
                <a:latin typeface="맑은 고딕"/>
                <a:ea typeface="맑은 고딕"/>
                <a:cs typeface="맑은 고딕"/>
              </a:rPr>
              <a:t> </a:t>
            </a:r>
            <a:r>
              <a:rPr lang="ko-KR" altLang="en-US" sz="1450" b="1" dirty="0">
                <a:solidFill>
                  <a:srgbClr val="0E2841"/>
                </a:solidFill>
                <a:latin typeface="맑은 고딕"/>
                <a:ea typeface="맑은 고딕"/>
                <a:cs typeface="맑은 고딕"/>
              </a:rPr>
              <a:t>개별 가</a:t>
            </a:r>
            <a:r>
              <a:rPr sz="1450" b="1" dirty="0" err="1">
                <a:solidFill>
                  <a:srgbClr val="0E2841"/>
                </a:solidFill>
                <a:latin typeface="맑은 고딕"/>
                <a:ea typeface="맑은 고딕"/>
                <a:cs typeface="맑은 고딕"/>
              </a:rPr>
              <a:t>구</a:t>
            </a:r>
            <a:r>
              <a:rPr lang="ko-KR" altLang="en-US" sz="1450" b="1" dirty="0">
                <a:solidFill>
                  <a:srgbClr val="0E2841"/>
                </a:solidFill>
                <a:latin typeface="맑은 고딕"/>
                <a:ea typeface="맑은 고딕"/>
                <a:cs typeface="맑은 고딕"/>
              </a:rPr>
              <a:t> 위치</a:t>
            </a:r>
            <a:r>
              <a:rPr sz="1450" b="0" dirty="0" err="1">
                <a:solidFill>
                  <a:srgbClr val="2A3845"/>
                </a:solidFill>
                <a:latin typeface="맑은 고딕"/>
                <a:ea typeface="맑은 고딕"/>
                <a:cs typeface="맑은 고딕"/>
              </a:rPr>
              <a:t>로</a:t>
            </a:r>
            <a:r>
              <a:rPr sz="1450" b="0" dirty="0">
                <a:solidFill>
                  <a:srgbClr val="2A3845"/>
                </a:solidFill>
                <a:latin typeface="맑은 고딕"/>
                <a:ea typeface="맑은 고딕"/>
                <a:cs typeface="맑은 고딕"/>
              </a:rPr>
              <a:t> </a:t>
            </a:r>
            <a:r>
              <a:rPr lang="ko-KR" altLang="en-US" sz="1450" dirty="0">
                <a:solidFill>
                  <a:srgbClr val="2A3845"/>
                </a:solidFill>
                <a:latin typeface="맑은 고딕"/>
                <a:ea typeface="맑은 고딕"/>
                <a:cs typeface="맑은 고딕"/>
              </a:rPr>
              <a:t>세분화해야</a:t>
            </a:r>
            <a:r>
              <a:rPr sz="1450" b="0" dirty="0">
                <a:solidFill>
                  <a:srgbClr val="2A3845"/>
                </a:solidFill>
                <a:latin typeface="맑은 고딕"/>
                <a:ea typeface="맑은 고딕"/>
                <a:cs typeface="맑은 고딕"/>
              </a:rPr>
              <a:t> </a:t>
            </a:r>
            <a:r>
              <a:rPr sz="1450" b="0" dirty="0" err="1">
                <a:solidFill>
                  <a:srgbClr val="2A3845"/>
                </a:solidFill>
                <a:latin typeface="맑은 고딕"/>
                <a:ea typeface="맑은 고딕"/>
                <a:cs typeface="맑은 고딕"/>
              </a:rPr>
              <a:t>합니다</a:t>
            </a:r>
            <a:endParaRPr sz="1450" b="0" dirty="0">
              <a:solidFill>
                <a:srgbClr val="2A3845"/>
              </a:solidFill>
              <a:latin typeface="맑은 고딕"/>
              <a:ea typeface="맑은 고딕"/>
              <a:cs typeface="맑은 고딕"/>
            </a:endParaRPr>
          </a:p>
        </p:txBody>
      </p:sp>
      <p:sp>
        <p:nvSpPr>
          <p:cNvPr id="11" name="TextBox 11"/>
          <p:cNvSpPr txBox="1"/>
          <p:nvPr/>
        </p:nvSpPr>
        <p:spPr>
          <a:xfrm>
            <a:off x="521156" y="4225000"/>
            <a:ext cx="11146639" cy="165000"/>
          </a:xfrm>
          <a:prstGeom prst="rect">
            <a:avLst/>
          </a:prstGeom>
          <a:noFill/>
        </p:spPr>
        <p:txBody>
          <a:bodyPr wrap="square" lIns="25400" tIns="0" rIns="25400" bIns="0" anchor="t"/>
          <a:lstStyle/>
          <a:p>
            <a:pPr algn="ctr">
              <a:spcBef>
                <a:spcPts val="0"/>
              </a:spcBef>
              <a:spcAft>
                <a:spcPts val="0"/>
              </a:spcAft>
            </a:pPr>
            <a:r>
              <a:rPr sz="1000" b="0" dirty="0" err="1">
                <a:solidFill>
                  <a:srgbClr val="6B7A88"/>
                </a:solidFill>
                <a:latin typeface="맑은 고딕"/>
                <a:ea typeface="맑은 고딕"/>
                <a:cs typeface="맑은 고딕"/>
              </a:rPr>
              <a:t>본</a:t>
            </a:r>
            <a:r>
              <a:rPr sz="1000" b="0" dirty="0">
                <a:solidFill>
                  <a:srgbClr val="6B7A88"/>
                </a:solidFill>
                <a:latin typeface="맑은 고딕"/>
                <a:ea typeface="맑은 고딕"/>
                <a:cs typeface="맑은 고딕"/>
              </a:rPr>
              <a:t> </a:t>
            </a:r>
            <a:r>
              <a:rPr sz="1000" b="0" dirty="0" err="1">
                <a:solidFill>
                  <a:srgbClr val="6B7A88"/>
                </a:solidFill>
                <a:latin typeface="맑은 고딕"/>
                <a:ea typeface="맑은 고딕"/>
                <a:cs typeface="맑은 고딕"/>
              </a:rPr>
              <a:t>흐름은</a:t>
            </a:r>
            <a:r>
              <a:rPr sz="1000" b="0" dirty="0">
                <a:solidFill>
                  <a:srgbClr val="6B7A88"/>
                </a:solidFill>
                <a:latin typeface="맑은 고딕"/>
                <a:ea typeface="맑은 고딕"/>
                <a:cs typeface="맑은 고딕"/>
              </a:rPr>
              <a:t> 2025년 </a:t>
            </a:r>
            <a:r>
              <a:rPr sz="1000" b="0" dirty="0" err="1">
                <a:solidFill>
                  <a:srgbClr val="6B7A88"/>
                </a:solidFill>
                <a:latin typeface="맑은 고딕"/>
                <a:ea typeface="맑은 고딕"/>
                <a:cs typeface="맑은 고딕"/>
              </a:rPr>
              <a:t>발생한</a:t>
            </a:r>
            <a:r>
              <a:rPr sz="1000" b="0" dirty="0">
                <a:solidFill>
                  <a:srgbClr val="6B7A88"/>
                </a:solidFill>
                <a:latin typeface="맑은 고딕"/>
                <a:ea typeface="맑은 고딕"/>
                <a:cs typeface="맑은 고딕"/>
              </a:rPr>
              <a:t> </a:t>
            </a:r>
            <a:r>
              <a:rPr sz="1000" b="0" dirty="0" err="1">
                <a:solidFill>
                  <a:srgbClr val="6B7A88"/>
                </a:solidFill>
                <a:latin typeface="맑은 고딕"/>
                <a:ea typeface="맑은 고딕"/>
                <a:cs typeface="맑은 고딕"/>
              </a:rPr>
              <a:t>경북</a:t>
            </a:r>
            <a:r>
              <a:rPr sz="1000" b="0" dirty="0">
                <a:solidFill>
                  <a:srgbClr val="6B7A88"/>
                </a:solidFill>
                <a:latin typeface="맑은 고딕"/>
                <a:ea typeface="맑은 고딕"/>
                <a:cs typeface="맑은 고딕"/>
              </a:rPr>
              <a:t> </a:t>
            </a:r>
            <a:r>
              <a:rPr sz="1000" b="0" dirty="0" err="1">
                <a:solidFill>
                  <a:srgbClr val="6B7A88"/>
                </a:solidFill>
                <a:latin typeface="맑은 고딕"/>
                <a:ea typeface="맑은 고딕"/>
                <a:cs typeface="맑은 고딕"/>
              </a:rPr>
              <a:t>영덕</a:t>
            </a:r>
            <a:r>
              <a:rPr sz="1000" b="0" dirty="0">
                <a:solidFill>
                  <a:srgbClr val="6B7A88"/>
                </a:solidFill>
                <a:latin typeface="맑은 고딕"/>
                <a:ea typeface="맑은 고딕"/>
                <a:cs typeface="맑은 고딕"/>
              </a:rPr>
              <a:t> </a:t>
            </a:r>
            <a:r>
              <a:rPr sz="1000" b="0" dirty="0" err="1">
                <a:solidFill>
                  <a:srgbClr val="6B7A88"/>
                </a:solidFill>
                <a:latin typeface="맑은 고딕"/>
                <a:ea typeface="맑은 고딕"/>
                <a:cs typeface="맑은 고딕"/>
              </a:rPr>
              <a:t>산불을</a:t>
            </a:r>
            <a:r>
              <a:rPr sz="1000" b="0" dirty="0">
                <a:solidFill>
                  <a:srgbClr val="6B7A88"/>
                </a:solidFill>
                <a:latin typeface="맑은 고딕"/>
                <a:ea typeface="맑은 고딕"/>
                <a:cs typeface="맑은 고딕"/>
              </a:rPr>
              <a:t> </a:t>
            </a:r>
            <a:r>
              <a:rPr sz="1000" b="0" dirty="0" err="1">
                <a:solidFill>
                  <a:srgbClr val="6B7A88"/>
                </a:solidFill>
                <a:latin typeface="맑은 고딕"/>
                <a:ea typeface="맑은 고딕"/>
                <a:cs typeface="맑은 고딕"/>
              </a:rPr>
              <a:t>예시로</a:t>
            </a:r>
            <a:r>
              <a:rPr sz="1000" b="0" dirty="0">
                <a:solidFill>
                  <a:srgbClr val="6B7A88"/>
                </a:solidFill>
                <a:latin typeface="맑은 고딕"/>
                <a:ea typeface="맑은 고딕"/>
                <a:cs typeface="맑은 고딕"/>
              </a:rPr>
              <a:t> </a:t>
            </a:r>
            <a:r>
              <a:rPr sz="1000" b="0" dirty="0" err="1">
                <a:solidFill>
                  <a:srgbClr val="6B7A88"/>
                </a:solidFill>
                <a:latin typeface="맑은 고딕"/>
                <a:ea typeface="맑은 고딕"/>
                <a:cs typeface="맑은 고딕"/>
              </a:rPr>
              <a:t>한</a:t>
            </a:r>
            <a:r>
              <a:rPr sz="1000" b="0" dirty="0">
                <a:solidFill>
                  <a:srgbClr val="6B7A88"/>
                </a:solidFill>
                <a:latin typeface="맑은 고딕"/>
                <a:ea typeface="맑은 고딕"/>
                <a:cs typeface="맑은 고딕"/>
              </a:rPr>
              <a:t> </a:t>
            </a:r>
            <a:r>
              <a:rPr sz="1000" b="0" dirty="0" err="1">
                <a:solidFill>
                  <a:srgbClr val="6B7A88"/>
                </a:solidFill>
                <a:latin typeface="맑은 고딕"/>
                <a:ea typeface="맑은 고딕"/>
                <a:cs typeface="맑은 고딕"/>
              </a:rPr>
              <a:t>것입니다</a:t>
            </a:r>
            <a:r>
              <a:rPr sz="1000" b="0" dirty="0">
                <a:solidFill>
                  <a:srgbClr val="6B7A88"/>
                </a:solidFill>
                <a:latin typeface="맑은 고딕"/>
                <a:ea typeface="맑은 고딕"/>
                <a:cs typeface="맑은 고딕"/>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57200"/>
            <a:ext cx="11155680" cy="713232"/>
          </a:xfrm>
          <a:prstGeom prst="rect">
            <a:avLst/>
          </a:prstGeom>
          <a:noFill/>
        </p:spPr>
        <p:txBody>
          <a:bodyPr wrap="square" lIns="0" tIns="0">
            <a:spAutoFit/>
          </a:bodyPr>
          <a:lstStyle/>
          <a:p>
            <a:r>
              <a:rPr sz="2500" b="1">
                <a:solidFill>
                  <a:srgbClr val="0E2841"/>
                </a:solidFill>
                <a:latin typeface="HY헤드라인M"/>
                <a:ea typeface="HY헤드라인M"/>
                <a:cs typeface="HY헤드라인M"/>
              </a:rPr>
              <a:t>02. 시스템 설계 - 4단계 파이프라인</a:t>
            </a:r>
          </a:p>
          <a:p>
            <a:pPr algn="l">
              <a:spcBef>
                <a:spcPts val="250"/>
              </a:spcBef>
            </a:pPr>
            <a:r>
              <a:rPr sz="1400" b="0">
                <a:solidFill>
                  <a:srgbClr val="33414E"/>
                </a:solidFill>
                <a:latin typeface="맑은 고딕"/>
                <a:ea typeface="맑은 고딕"/>
                <a:cs typeface="맑은 고딕"/>
              </a:rPr>
              <a:t>확산 예측은 입력이고, 그 위에서 대피·구조 경로와 출동 순서를 만드는 뒤 두 단계가 본 연구의 기여입니다.</a:t>
            </a:r>
          </a:p>
        </p:txBody>
      </p:sp>
      <p:pic>
        <p:nvPicPr>
          <p:cNvPr id="3" name="Picture 2" descr="D1_pipeline_light.png"/>
          <p:cNvPicPr>
            <a:picLocks noChangeAspect="1"/>
          </p:cNvPicPr>
          <p:nvPr/>
        </p:nvPicPr>
        <p:blipFill>
          <a:blip r:embed="rId3"/>
          <a:stretch>
            <a:fillRect/>
          </a:stretch>
        </p:blipFill>
        <p:spPr>
          <a:xfrm>
            <a:off x="1808058" y="1252728"/>
            <a:ext cx="8572835" cy="4910328"/>
          </a:xfrm>
          <a:prstGeom prst="rect">
            <a:avLst/>
          </a:prstGeom>
        </p:spPr>
      </p:pic>
      <p:sp>
        <p:nvSpPr>
          <p:cNvPr id="9" name="TextBox 9"/>
          <p:cNvSpPr txBox="1"/>
          <p:nvPr/>
        </p:nvSpPr>
        <p:spPr>
          <a:xfrm>
            <a:off x="2103120" y="5880000"/>
            <a:ext cx="8001000" cy="520000"/>
          </a:xfrm>
          <a:prstGeom prst="rect">
            <a:avLst/>
          </a:prstGeom>
          <a:noFill/>
        </p:spPr>
        <p:txBody>
          <a:bodyPr wrap="square" lIns="25400" tIns="0" rIns="25400" bIns="0" anchor="t"/>
          <a:lstStyle/>
          <a:p>
            <a:pPr algn="l">
              <a:spcBef>
                <a:spcPts val="0"/>
              </a:spcBef>
              <a:spcAft>
                <a:spcPts val="60"/>
              </a:spcAft>
            </a:pPr>
            <a:r>
              <a:rPr sz="1250" b="1" dirty="0" err="1">
                <a:solidFill>
                  <a:srgbClr val="2A3845"/>
                </a:solidFill>
                <a:latin typeface="맑은 고딕"/>
                <a:ea typeface="맑은 고딕"/>
                <a:cs typeface="맑은 고딕"/>
              </a:rPr>
              <a:t>예측</a:t>
            </a:r>
            <a:r>
              <a:rPr sz="1250" b="1" dirty="0">
                <a:solidFill>
                  <a:srgbClr val="2A3845"/>
                </a:solidFill>
                <a:latin typeface="맑은 고딕"/>
                <a:ea typeface="맑은 고딕"/>
                <a:cs typeface="맑은 고딕"/>
              </a:rPr>
              <a:t> </a:t>
            </a:r>
            <a:r>
              <a:rPr sz="1250" b="1" dirty="0" err="1">
                <a:solidFill>
                  <a:srgbClr val="2A3845"/>
                </a:solidFill>
                <a:latin typeface="맑은 고딕"/>
                <a:ea typeface="맑은 고딕"/>
                <a:cs typeface="맑은 고딕"/>
              </a:rPr>
              <a:t>검증</a:t>
            </a:r>
            <a:r>
              <a:rPr sz="1250" b="1" dirty="0">
                <a:solidFill>
                  <a:srgbClr val="2A3845"/>
                </a:solidFill>
                <a:latin typeface="맑은 고딕"/>
                <a:ea typeface="맑은 고딕"/>
                <a:cs typeface="맑은 고딕"/>
              </a:rPr>
              <a:t> </a:t>
            </a:r>
            <a:r>
              <a:rPr sz="1900" b="1" dirty="0">
                <a:solidFill>
                  <a:srgbClr val="0B6E96"/>
                </a:solidFill>
                <a:latin typeface="맑은 고딕"/>
                <a:ea typeface="맑은 고딕"/>
                <a:cs typeface="맑은 고딕"/>
              </a:rPr>
              <a:t>ROC-AUC 0.89</a:t>
            </a:r>
            <a:r>
              <a:rPr sz="1250" b="0" dirty="0">
                <a:solidFill>
                  <a:srgbClr val="2A3845"/>
                </a:solidFill>
                <a:latin typeface="맑은 고딕"/>
                <a:ea typeface="맑은 고딕"/>
                <a:cs typeface="맑은 고딕"/>
              </a:rPr>
              <a:t>  ·  6개 </a:t>
            </a:r>
            <a:r>
              <a:rPr sz="1250" b="0" dirty="0" err="1">
                <a:solidFill>
                  <a:srgbClr val="2A3845"/>
                </a:solidFill>
                <a:latin typeface="맑은 고딕"/>
                <a:ea typeface="맑은 고딕"/>
                <a:cs typeface="맑은 고딕"/>
              </a:rPr>
              <a:t>폴드</a:t>
            </a:r>
            <a:r>
              <a:rPr sz="1250" b="0" dirty="0">
                <a:solidFill>
                  <a:srgbClr val="2A3845"/>
                </a:solidFill>
                <a:latin typeface="맑은 고딕"/>
                <a:ea typeface="맑은 고딕"/>
                <a:cs typeface="맑은 고딕"/>
              </a:rPr>
              <a:t> </a:t>
            </a:r>
            <a:r>
              <a:rPr sz="1250" b="0" dirty="0" err="1">
                <a:solidFill>
                  <a:srgbClr val="2A3845"/>
                </a:solidFill>
                <a:latin typeface="맑은 고딕"/>
                <a:ea typeface="맑은 고딕"/>
                <a:cs typeface="맑은 고딕"/>
              </a:rPr>
              <a:t>모두</a:t>
            </a:r>
            <a:r>
              <a:rPr sz="1250" b="0" dirty="0">
                <a:solidFill>
                  <a:srgbClr val="2A3845"/>
                </a:solidFill>
                <a:latin typeface="맑은 고딕"/>
                <a:ea typeface="맑은 고딕"/>
                <a:cs typeface="맑은 고딕"/>
              </a:rPr>
              <a:t> </a:t>
            </a:r>
            <a:r>
              <a:rPr sz="1250" b="0" dirty="0" err="1">
                <a:solidFill>
                  <a:srgbClr val="2A3845"/>
                </a:solidFill>
                <a:latin typeface="맑은 고딕"/>
                <a:ea typeface="맑은 고딕"/>
                <a:cs typeface="맑은 고딕"/>
              </a:rPr>
              <a:t>무작위</a:t>
            </a:r>
            <a:r>
              <a:rPr sz="1250" b="0" dirty="0">
                <a:solidFill>
                  <a:srgbClr val="2A3845"/>
                </a:solidFill>
                <a:latin typeface="맑은 고딕"/>
                <a:ea typeface="맑은 고딕"/>
                <a:cs typeface="맑은 고딕"/>
              </a:rPr>
              <a:t>(0.5)</a:t>
            </a:r>
            <a:r>
              <a:rPr sz="1250" b="0" dirty="0" err="1">
                <a:solidFill>
                  <a:srgbClr val="2A3845"/>
                </a:solidFill>
                <a:latin typeface="맑은 고딕"/>
                <a:ea typeface="맑은 고딕"/>
                <a:cs typeface="맑은 고딕"/>
              </a:rPr>
              <a:t>를</a:t>
            </a:r>
            <a:r>
              <a:rPr sz="1250" b="0" dirty="0">
                <a:solidFill>
                  <a:srgbClr val="2A3845"/>
                </a:solidFill>
                <a:latin typeface="맑은 고딕"/>
                <a:ea typeface="맑은 고딕"/>
                <a:cs typeface="맑은 고딕"/>
              </a:rPr>
              <a:t> </a:t>
            </a:r>
            <a:r>
              <a:rPr sz="1250" b="0" dirty="0" err="1">
                <a:solidFill>
                  <a:srgbClr val="2A3845"/>
                </a:solidFill>
                <a:latin typeface="맑은 고딕"/>
                <a:ea typeface="맑은 고딕"/>
                <a:cs typeface="맑은 고딕"/>
              </a:rPr>
              <a:t>유의하게</a:t>
            </a:r>
            <a:r>
              <a:rPr sz="1250" b="0" dirty="0">
                <a:solidFill>
                  <a:srgbClr val="2A3845"/>
                </a:solidFill>
                <a:latin typeface="맑은 고딕"/>
                <a:ea typeface="맑은 고딕"/>
                <a:cs typeface="맑은 고딕"/>
              </a:rPr>
              <a:t> </a:t>
            </a:r>
            <a:r>
              <a:rPr sz="1250" b="0" dirty="0" err="1">
                <a:solidFill>
                  <a:srgbClr val="2A3845"/>
                </a:solidFill>
                <a:latin typeface="맑은 고딕"/>
                <a:ea typeface="맑은 고딕"/>
                <a:cs typeface="맑은 고딕"/>
              </a:rPr>
              <a:t>초과</a:t>
            </a:r>
            <a:endParaRPr sz="1250" b="0" dirty="0">
              <a:solidFill>
                <a:srgbClr val="2A3845"/>
              </a:solidFill>
              <a:latin typeface="맑은 고딕"/>
              <a:ea typeface="맑은 고딕"/>
              <a:cs typeface="맑은 고딕"/>
            </a:endParaRPr>
          </a:p>
          <a:p>
            <a:pPr algn="l">
              <a:spcBef>
                <a:spcPts val="0"/>
              </a:spcBef>
              <a:spcAft>
                <a:spcPts val="0"/>
              </a:spcAft>
            </a:pPr>
            <a:r>
              <a:rPr sz="1050" b="0" dirty="0" err="1">
                <a:solidFill>
                  <a:srgbClr val="6B7A88"/>
                </a:solidFill>
                <a:latin typeface="맑은 고딕"/>
                <a:ea typeface="맑은 고딕"/>
                <a:cs typeface="맑은 고딕"/>
              </a:rPr>
              <a:t>국내</a:t>
            </a:r>
            <a:r>
              <a:rPr sz="1050" b="0" dirty="0">
                <a:solidFill>
                  <a:srgbClr val="6B7A88"/>
                </a:solidFill>
                <a:latin typeface="맑은 고딕"/>
                <a:ea typeface="맑은 고딕"/>
                <a:cs typeface="맑은 고딕"/>
              </a:rPr>
              <a:t> </a:t>
            </a:r>
            <a:r>
              <a:rPr sz="1050" b="0" dirty="0" err="1">
                <a:solidFill>
                  <a:srgbClr val="6B7A88"/>
                </a:solidFill>
                <a:latin typeface="맑은 고딕"/>
                <a:ea typeface="맑은 고딕"/>
                <a:cs typeface="맑은 고딕"/>
              </a:rPr>
              <a:t>산불</a:t>
            </a:r>
            <a:r>
              <a:rPr sz="1050" b="0" dirty="0">
                <a:solidFill>
                  <a:srgbClr val="6B7A88"/>
                </a:solidFill>
                <a:latin typeface="맑은 고딕"/>
                <a:ea typeface="맑은 고딕"/>
                <a:cs typeface="맑은 고딕"/>
              </a:rPr>
              <a:t> 6건</a:t>
            </a:r>
            <a:r>
              <a:rPr lang="ko-KR" altLang="en-US" sz="1050" dirty="0">
                <a:solidFill>
                  <a:srgbClr val="6B7A88"/>
                </a:solidFill>
                <a:latin typeface="맑은 고딕"/>
                <a:ea typeface="맑은 고딕"/>
                <a:cs typeface="맑은 고딕"/>
              </a:rPr>
              <a:t> </a:t>
            </a:r>
            <a:r>
              <a:rPr lang="en-US" altLang="ko-KR" sz="1050" dirty="0">
                <a:solidFill>
                  <a:srgbClr val="6B7A88"/>
                </a:solidFill>
                <a:latin typeface="맑은 고딕"/>
                <a:ea typeface="맑은 고딕"/>
                <a:cs typeface="맑은 고딕"/>
              </a:rPr>
              <a:t>-</a:t>
            </a:r>
            <a:r>
              <a:rPr lang="ko-KR" altLang="en-US" sz="1050" dirty="0">
                <a:solidFill>
                  <a:srgbClr val="6B7A88"/>
                </a:solidFill>
                <a:latin typeface="맑은 고딕"/>
                <a:ea typeface="맑은 고딕"/>
                <a:cs typeface="맑은 고딕"/>
              </a:rPr>
              <a:t> </a:t>
            </a:r>
            <a:r>
              <a:rPr sz="1050" b="0" dirty="0" err="1">
                <a:solidFill>
                  <a:srgbClr val="6B7A88"/>
                </a:solidFill>
                <a:latin typeface="맑은 고딕"/>
                <a:ea typeface="맑은 고딕"/>
                <a:cs typeface="맑은 고딕"/>
              </a:rPr>
              <a:t>한</a:t>
            </a:r>
            <a:r>
              <a:rPr sz="1050" b="0" dirty="0">
                <a:solidFill>
                  <a:srgbClr val="6B7A88"/>
                </a:solidFill>
                <a:latin typeface="맑은 고딕"/>
                <a:ea typeface="맑은 고딕"/>
                <a:cs typeface="맑은 고딕"/>
              </a:rPr>
              <a:t> </a:t>
            </a:r>
            <a:r>
              <a:rPr sz="1050" b="0" dirty="0" err="1">
                <a:solidFill>
                  <a:srgbClr val="6B7A88"/>
                </a:solidFill>
                <a:latin typeface="맑은 고딕"/>
                <a:ea typeface="맑은 고딕"/>
                <a:cs typeface="맑은 고딕"/>
              </a:rPr>
              <a:t>산불씩</a:t>
            </a:r>
            <a:r>
              <a:rPr sz="1050" b="0" dirty="0">
                <a:solidFill>
                  <a:srgbClr val="6B7A88"/>
                </a:solidFill>
                <a:latin typeface="맑은 고딕"/>
                <a:ea typeface="맑은 고딕"/>
                <a:cs typeface="맑은 고딕"/>
              </a:rPr>
              <a:t> </a:t>
            </a:r>
            <a:r>
              <a:rPr sz="1050" b="0" dirty="0" err="1">
                <a:solidFill>
                  <a:srgbClr val="6B7A88"/>
                </a:solidFill>
                <a:latin typeface="맑은 고딕"/>
                <a:ea typeface="맑은 고딕"/>
                <a:cs typeface="맑은 고딕"/>
              </a:rPr>
              <a:t>제외한</a:t>
            </a:r>
            <a:r>
              <a:rPr sz="1050" b="0" dirty="0">
                <a:solidFill>
                  <a:srgbClr val="6B7A88"/>
                </a:solidFill>
                <a:latin typeface="맑은 고딕"/>
                <a:ea typeface="맑은 고딕"/>
                <a:cs typeface="맑은 고딕"/>
              </a:rPr>
              <a:t> </a:t>
            </a:r>
            <a:r>
              <a:rPr sz="1050" b="0" dirty="0" err="1">
                <a:solidFill>
                  <a:srgbClr val="6B7A88"/>
                </a:solidFill>
                <a:latin typeface="맑은 고딕"/>
                <a:ea typeface="맑은 고딕"/>
                <a:cs typeface="맑은 고딕"/>
              </a:rPr>
              <a:t>교차검증</a:t>
            </a:r>
            <a:r>
              <a:rPr sz="1050" b="0" dirty="0">
                <a:solidFill>
                  <a:srgbClr val="6B7A88"/>
                </a:solidFill>
                <a:latin typeface="맑은 고딕"/>
                <a:ea typeface="맑은 고딕"/>
                <a:cs typeface="맑은 고딕"/>
              </a:rPr>
              <a:t>(LOGO-CV) </a:t>
            </a:r>
            <a:r>
              <a:rPr sz="1050" b="0" dirty="0" err="1">
                <a:solidFill>
                  <a:srgbClr val="6B7A88"/>
                </a:solidFill>
                <a:latin typeface="맑은 고딕"/>
                <a:ea typeface="맑은 고딕"/>
                <a:cs typeface="맑은 고딕"/>
              </a:rPr>
              <a:t>폴드</a:t>
            </a:r>
            <a:r>
              <a:rPr sz="1050" b="0" dirty="0">
                <a:solidFill>
                  <a:srgbClr val="6B7A88"/>
                </a:solidFill>
                <a:latin typeface="맑은 고딕"/>
                <a:ea typeface="맑은 고딕"/>
                <a:cs typeface="맑은 고딕"/>
              </a:rPr>
              <a:t> </a:t>
            </a:r>
            <a:r>
              <a:rPr sz="1050" b="0" dirty="0" err="1">
                <a:solidFill>
                  <a:srgbClr val="6B7A88"/>
                </a:solidFill>
                <a:latin typeface="맑은 고딕"/>
                <a:ea typeface="맑은 고딕"/>
                <a:cs typeface="맑은 고딕"/>
              </a:rPr>
              <a:t>평균</a:t>
            </a:r>
            <a:r>
              <a:rPr sz="1050" b="0" dirty="0">
                <a:solidFill>
                  <a:srgbClr val="6B7A88"/>
                </a:solidFill>
                <a:latin typeface="맑은 고딕"/>
                <a:ea typeface="맑은 고딕"/>
                <a:cs typeface="맑은 고딕"/>
              </a:rPr>
              <a:t> · </a:t>
            </a:r>
            <a:r>
              <a:rPr sz="1050" b="0" dirty="0" err="1">
                <a:solidFill>
                  <a:srgbClr val="6B7A88"/>
                </a:solidFill>
                <a:latin typeface="맑은 고딕"/>
                <a:ea typeface="맑은 고딕"/>
                <a:cs typeface="맑은 고딕"/>
              </a:rPr>
              <a:t>상세는</a:t>
            </a:r>
            <a:r>
              <a:rPr sz="1050" b="0" dirty="0">
                <a:solidFill>
                  <a:srgbClr val="6B7A88"/>
                </a:solidFill>
                <a:latin typeface="맑은 고딕"/>
                <a:ea typeface="맑은 고딕"/>
                <a:cs typeface="맑은 고딕"/>
              </a:rPr>
              <a:t> </a:t>
            </a:r>
            <a:r>
              <a:rPr sz="1050" b="0" dirty="0" err="1">
                <a:solidFill>
                  <a:srgbClr val="6B7A88"/>
                </a:solidFill>
                <a:latin typeface="맑은 고딕"/>
                <a:ea typeface="맑은 고딕"/>
                <a:cs typeface="맑은 고딕"/>
              </a:rPr>
              <a:t>부록</a:t>
            </a:r>
            <a:endParaRPr sz="1050" b="0" dirty="0">
              <a:solidFill>
                <a:srgbClr val="6B7A88"/>
              </a:solidFill>
              <a:latin typeface="맑은 고딕"/>
              <a:ea typeface="맑은 고딕"/>
              <a:cs typeface="맑은 고딕"/>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57200"/>
            <a:ext cx="11155680" cy="713232"/>
          </a:xfrm>
          <a:prstGeom prst="rect">
            <a:avLst/>
          </a:prstGeom>
          <a:noFill/>
        </p:spPr>
        <p:txBody>
          <a:bodyPr wrap="square" lIns="0" tIns="0">
            <a:spAutoFit/>
          </a:bodyPr>
          <a:lstStyle/>
          <a:p>
            <a:r>
              <a:rPr sz="2500" b="1">
                <a:solidFill>
                  <a:srgbClr val="0E2841"/>
                </a:solidFill>
                <a:latin typeface="HY헤드라인M"/>
                <a:ea typeface="HY헤드라인M"/>
                <a:cs typeface="HY헤드라인M"/>
              </a:rPr>
              <a:t>02. 시스템 설계 - 위험 확률장 (라우팅 입력)</a:t>
            </a:r>
          </a:p>
          <a:p>
            <a:pPr algn="l">
              <a:spcBef>
                <a:spcPts val="250"/>
              </a:spcBef>
            </a:pPr>
            <a:r>
              <a:rPr sz="1400" b="0">
                <a:solidFill>
                  <a:srgbClr val="33414E"/>
                </a:solidFill>
                <a:latin typeface="맑은 고딕"/>
                <a:ea typeface="맑은 고딕"/>
                <a:cs typeface="맑은 고딕"/>
              </a:rPr>
              <a:t>발화 이후 12시간까지의 위험을 375 m 셀로 예측합니다 — 이 위험면이 다음 단계 경로 탐색의 입력입니다.</a:t>
            </a:r>
          </a:p>
        </p:txBody>
      </p:sp>
      <p:pic>
        <p:nvPicPr>
          <p:cNvPr id="3" name="Picture 2" descr="V1_hazard_field_timeseries.png"/>
          <p:cNvPicPr>
            <a:picLocks noChangeAspect="1"/>
          </p:cNvPicPr>
          <p:nvPr/>
        </p:nvPicPr>
        <p:blipFill>
          <a:blip r:embed="rId3"/>
          <a:stretch>
            <a:fillRect/>
          </a:stretch>
        </p:blipFill>
        <p:spPr>
          <a:xfrm>
            <a:off x="502920" y="1207008"/>
            <a:ext cx="11183112" cy="3564843"/>
          </a:xfrm>
          <a:prstGeom prst="rect">
            <a:avLst/>
          </a:prstGeom>
        </p:spPr>
      </p:pic>
      <p:sp>
        <p:nvSpPr>
          <p:cNvPr id="4" name="TextBox 3"/>
          <p:cNvSpPr txBox="1"/>
          <p:nvPr/>
        </p:nvSpPr>
        <p:spPr>
          <a:xfrm>
            <a:off x="502920" y="5029200"/>
            <a:ext cx="11183112" cy="618374"/>
          </a:xfrm>
          <a:prstGeom prst="rect">
            <a:avLst/>
          </a:prstGeom>
          <a:noFill/>
        </p:spPr>
        <p:txBody>
          <a:bodyPr wrap="square" lIns="25400" tIns="25400" rIns="25400" bIns="25400" anchor="t">
            <a:spAutoFit/>
          </a:bodyPr>
          <a:lstStyle/>
          <a:p>
            <a:pPr algn="l">
              <a:lnSpc>
                <a:spcPct val="130000"/>
              </a:lnSpc>
              <a:spcBef>
                <a:spcPts val="0"/>
              </a:spcBef>
              <a:spcAft>
                <a:spcPts val="400"/>
              </a:spcAft>
            </a:pPr>
            <a:r>
              <a:rPr sz="1500" b="0" dirty="0">
                <a:solidFill>
                  <a:srgbClr val="2A3845"/>
                </a:solidFill>
                <a:latin typeface="맑은 고딕"/>
                <a:ea typeface="맑은 고딕"/>
                <a:cs typeface="맑은 고딕"/>
              </a:rPr>
              <a:t>≥0.5 </a:t>
            </a:r>
            <a:r>
              <a:rPr sz="1500" b="0" dirty="0" err="1">
                <a:solidFill>
                  <a:srgbClr val="2A3845"/>
                </a:solidFill>
                <a:latin typeface="맑은 고딕"/>
                <a:ea typeface="맑은 고딕"/>
                <a:cs typeface="맑은 고딕"/>
              </a:rPr>
              <a:t>핵심</a:t>
            </a:r>
            <a:r>
              <a:rPr sz="1500" b="0" dirty="0">
                <a:solidFill>
                  <a:srgbClr val="2A3845"/>
                </a:solidFill>
                <a:latin typeface="맑은 고딕"/>
                <a:ea typeface="맑은 고딕"/>
                <a:cs typeface="맑은 고딕"/>
              </a:rPr>
              <a:t> </a:t>
            </a:r>
            <a:r>
              <a:rPr sz="1500" b="0" dirty="0" err="1">
                <a:solidFill>
                  <a:srgbClr val="2A3845"/>
                </a:solidFill>
                <a:latin typeface="맑은 고딕"/>
                <a:ea typeface="맑은 고딕"/>
                <a:cs typeface="맑은 고딕"/>
              </a:rPr>
              <a:t>영역이</a:t>
            </a:r>
            <a:r>
              <a:rPr sz="1500" b="0" dirty="0">
                <a:solidFill>
                  <a:srgbClr val="2A3845"/>
                </a:solidFill>
                <a:latin typeface="맑은 고딕"/>
                <a:ea typeface="맑은 고딕"/>
                <a:cs typeface="맑은 고딕"/>
              </a:rPr>
              <a:t> 241 → 244 </a:t>
            </a:r>
            <a:r>
              <a:rPr sz="1500" b="0" dirty="0" err="1">
                <a:solidFill>
                  <a:srgbClr val="2A3845"/>
                </a:solidFill>
                <a:latin typeface="맑은 고딕"/>
                <a:ea typeface="맑은 고딕"/>
                <a:cs typeface="맑은 고딕"/>
              </a:rPr>
              <a:t>셀로</a:t>
            </a:r>
            <a:r>
              <a:rPr sz="1500" b="0" dirty="0">
                <a:solidFill>
                  <a:srgbClr val="2A3845"/>
                </a:solidFill>
                <a:latin typeface="맑은 고딕"/>
                <a:ea typeface="맑은 고딕"/>
                <a:cs typeface="맑은 고딕"/>
              </a:rPr>
              <a:t> </a:t>
            </a:r>
            <a:r>
              <a:rPr sz="1500" b="0" dirty="0" err="1">
                <a:solidFill>
                  <a:srgbClr val="2A3845"/>
                </a:solidFill>
                <a:latin typeface="맑은 고딕"/>
                <a:ea typeface="맑은 고딕"/>
                <a:cs typeface="맑은 고딕"/>
              </a:rPr>
              <a:t>거의</a:t>
            </a:r>
            <a:r>
              <a:rPr sz="1500" b="0" dirty="0">
                <a:solidFill>
                  <a:srgbClr val="2A3845"/>
                </a:solidFill>
                <a:latin typeface="맑은 고딕"/>
                <a:ea typeface="맑은 고딕"/>
                <a:cs typeface="맑은 고딕"/>
              </a:rPr>
              <a:t> </a:t>
            </a:r>
            <a:r>
              <a:rPr sz="1500" b="0" dirty="0" err="1">
                <a:solidFill>
                  <a:srgbClr val="2A3845"/>
                </a:solidFill>
                <a:latin typeface="맑은 고딕"/>
                <a:ea typeface="맑은 고딕"/>
                <a:cs typeface="맑은 고딕"/>
              </a:rPr>
              <a:t>변하지</a:t>
            </a:r>
            <a:r>
              <a:rPr sz="1500" b="0" dirty="0">
                <a:solidFill>
                  <a:srgbClr val="2A3845"/>
                </a:solidFill>
                <a:latin typeface="맑은 고딕"/>
                <a:ea typeface="맑은 고딕"/>
                <a:cs typeface="맑은 고딕"/>
              </a:rPr>
              <a:t> </a:t>
            </a:r>
            <a:r>
              <a:rPr sz="1500" b="0" dirty="0" err="1">
                <a:solidFill>
                  <a:srgbClr val="2A3845"/>
                </a:solidFill>
                <a:latin typeface="맑은 고딕"/>
                <a:ea typeface="맑은 고딕"/>
                <a:cs typeface="맑은 고딕"/>
              </a:rPr>
              <a:t>않습니다</a:t>
            </a:r>
            <a:r>
              <a:rPr sz="1500" b="0" dirty="0">
                <a:solidFill>
                  <a:srgbClr val="2A3845"/>
                </a:solidFill>
                <a:latin typeface="맑은 고딕"/>
                <a:ea typeface="맑은 고딕"/>
                <a:cs typeface="맑은 고딕"/>
              </a:rPr>
              <a:t>. </a:t>
            </a:r>
          </a:p>
          <a:p>
            <a:pPr algn="l">
              <a:lnSpc>
                <a:spcPct val="130000"/>
              </a:lnSpc>
              <a:spcBef>
                <a:spcPts val="0"/>
              </a:spcBef>
              <a:spcAft>
                <a:spcPts val="400"/>
              </a:spcAft>
            </a:pPr>
            <a:r>
              <a:rPr lang="ko-KR" altLang="en-US" sz="1500" b="1" dirty="0">
                <a:solidFill>
                  <a:srgbClr val="0E2841"/>
                </a:solidFill>
                <a:latin typeface="맑은 고딕"/>
                <a:ea typeface="맑은 고딕"/>
                <a:cs typeface="맑은 고딕"/>
              </a:rPr>
              <a:t>고위험 구역의 시간 변화를 확인한 뒤</a:t>
            </a:r>
            <a:r>
              <a:rPr lang="en-US" altLang="ko-KR" sz="1500" b="1" dirty="0">
                <a:solidFill>
                  <a:srgbClr val="0E2841"/>
                </a:solidFill>
                <a:latin typeface="맑은 고딕"/>
                <a:ea typeface="맑은 고딕"/>
                <a:cs typeface="맑은 고딕"/>
              </a:rPr>
              <a:t>,</a:t>
            </a:r>
            <a:r>
              <a:rPr lang="ko-KR" altLang="en-US" sz="1500" b="1" dirty="0">
                <a:solidFill>
                  <a:srgbClr val="0E2841"/>
                </a:solidFill>
                <a:latin typeface="맑은 고딕"/>
                <a:ea typeface="맑은 고딕"/>
                <a:cs typeface="맑은 고딕"/>
              </a:rPr>
              <a:t> 이 위험면을 경로 탐색의 입력으로 사용했습니다</a:t>
            </a:r>
            <a:r>
              <a:rPr lang="en-US" altLang="ko-KR" sz="1500" b="1" dirty="0">
                <a:solidFill>
                  <a:srgbClr val="0E2841"/>
                </a:solidFill>
                <a:latin typeface="맑은 고딕"/>
                <a:ea typeface="맑은 고딕"/>
                <a:cs typeface="맑은 고딕"/>
              </a:rPr>
              <a:t>.</a:t>
            </a:r>
            <a:endParaRPr sz="1500" b="1" dirty="0">
              <a:solidFill>
                <a:srgbClr val="0E2841"/>
              </a:solidFill>
              <a:latin typeface="맑은 고딕"/>
              <a:ea typeface="맑은 고딕"/>
              <a:cs typeface="맑은 고딕"/>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57200"/>
            <a:ext cx="11155680" cy="684803"/>
          </a:xfrm>
          <a:prstGeom prst="rect">
            <a:avLst/>
          </a:prstGeom>
          <a:noFill/>
        </p:spPr>
        <p:txBody>
          <a:bodyPr wrap="square" lIns="0" tIns="0">
            <a:spAutoFit/>
          </a:bodyPr>
          <a:lstStyle/>
          <a:p>
            <a:r>
              <a:rPr sz="2500" b="1" dirty="0">
                <a:solidFill>
                  <a:srgbClr val="0E2841"/>
                </a:solidFill>
                <a:latin typeface="HY헤드라인M"/>
                <a:ea typeface="HY헤드라인M"/>
                <a:cs typeface="HY헤드라인M"/>
              </a:rPr>
              <a:t>03. </a:t>
            </a:r>
            <a:r>
              <a:rPr sz="2500" b="1" dirty="0" err="1">
                <a:solidFill>
                  <a:srgbClr val="0E2841"/>
                </a:solidFill>
                <a:latin typeface="HY헤드라인M"/>
                <a:ea typeface="HY헤드라인M"/>
                <a:cs typeface="HY헤드라인M"/>
              </a:rPr>
              <a:t>검증과</a:t>
            </a:r>
            <a:r>
              <a:rPr sz="2500" b="1" dirty="0">
                <a:solidFill>
                  <a:srgbClr val="0E2841"/>
                </a:solidFill>
                <a:latin typeface="HY헤드라인M"/>
                <a:ea typeface="HY헤드라인M"/>
                <a:cs typeface="HY헤드라인M"/>
              </a:rPr>
              <a:t> </a:t>
            </a:r>
            <a:r>
              <a:rPr sz="2500" b="1" dirty="0" err="1">
                <a:solidFill>
                  <a:srgbClr val="0E2841"/>
                </a:solidFill>
                <a:latin typeface="HY헤드라인M"/>
                <a:ea typeface="HY헤드라인M"/>
                <a:cs typeface="HY헤드라인M"/>
              </a:rPr>
              <a:t>결과</a:t>
            </a:r>
            <a:r>
              <a:rPr sz="2500" b="1" dirty="0">
                <a:solidFill>
                  <a:srgbClr val="0E2841"/>
                </a:solidFill>
                <a:latin typeface="HY헤드라인M"/>
                <a:ea typeface="HY헤드라인M"/>
                <a:cs typeface="HY헤드라인M"/>
              </a:rPr>
              <a:t> - </a:t>
            </a:r>
            <a:r>
              <a:rPr sz="2500" b="1" dirty="0" err="1">
                <a:solidFill>
                  <a:srgbClr val="0E2841"/>
                </a:solidFill>
                <a:latin typeface="HY헤드라인M"/>
                <a:ea typeface="HY헤드라인M"/>
                <a:cs typeface="HY헤드라인M"/>
              </a:rPr>
              <a:t>실제</a:t>
            </a:r>
            <a:r>
              <a:rPr sz="2500" b="1" dirty="0">
                <a:solidFill>
                  <a:srgbClr val="0E2841"/>
                </a:solidFill>
                <a:latin typeface="HY헤드라인M"/>
                <a:ea typeface="HY헤드라인M"/>
                <a:cs typeface="HY헤드라인M"/>
              </a:rPr>
              <a:t> OSM </a:t>
            </a:r>
            <a:r>
              <a:rPr sz="2500" b="1" dirty="0" err="1">
                <a:solidFill>
                  <a:srgbClr val="0E2841"/>
                </a:solidFill>
                <a:latin typeface="HY헤드라인M"/>
                <a:ea typeface="HY헤드라인M"/>
                <a:cs typeface="HY헤드라인M"/>
              </a:rPr>
              <a:t>위</a:t>
            </a:r>
            <a:r>
              <a:rPr sz="2500" b="1" dirty="0">
                <a:solidFill>
                  <a:srgbClr val="0E2841"/>
                </a:solidFill>
                <a:latin typeface="HY헤드라인M"/>
                <a:ea typeface="HY헤드라인M"/>
                <a:cs typeface="HY헤드라인M"/>
              </a:rPr>
              <a:t> </a:t>
            </a:r>
            <a:r>
              <a:rPr sz="2500" b="1" dirty="0" err="1">
                <a:solidFill>
                  <a:srgbClr val="0E2841"/>
                </a:solidFill>
                <a:latin typeface="HY헤드라인M"/>
                <a:ea typeface="HY헤드라인M"/>
                <a:cs typeface="HY헤드라인M"/>
              </a:rPr>
              <a:t>구조</a:t>
            </a:r>
            <a:r>
              <a:rPr lang="ko-KR" altLang="en-US" sz="2500" b="1" dirty="0">
                <a:solidFill>
                  <a:srgbClr val="0E2841"/>
                </a:solidFill>
                <a:latin typeface="HY헤드라인M"/>
                <a:ea typeface="HY헤드라인M"/>
                <a:cs typeface="HY헤드라인M"/>
              </a:rPr>
              <a:t> </a:t>
            </a:r>
            <a:r>
              <a:rPr sz="2500" b="1" dirty="0" err="1">
                <a:solidFill>
                  <a:srgbClr val="0E2841"/>
                </a:solidFill>
                <a:latin typeface="HY헤드라인M"/>
                <a:ea typeface="HY헤드라인M"/>
                <a:cs typeface="HY헤드라인M"/>
              </a:rPr>
              <a:t>인지</a:t>
            </a:r>
            <a:r>
              <a:rPr sz="2500" b="1" dirty="0">
                <a:solidFill>
                  <a:srgbClr val="0E2841"/>
                </a:solidFill>
                <a:latin typeface="HY헤드라인M"/>
                <a:ea typeface="HY헤드라인M"/>
                <a:cs typeface="HY헤드라인M"/>
              </a:rPr>
              <a:t> </a:t>
            </a:r>
            <a:r>
              <a:rPr sz="2500" b="1" dirty="0" err="1">
                <a:solidFill>
                  <a:srgbClr val="0E2841"/>
                </a:solidFill>
                <a:latin typeface="HY헤드라인M"/>
                <a:ea typeface="HY헤드라인M"/>
                <a:cs typeface="HY헤드라인M"/>
              </a:rPr>
              <a:t>라우팅</a:t>
            </a:r>
            <a:endParaRPr sz="2500" b="1" dirty="0">
              <a:solidFill>
                <a:srgbClr val="0E2841"/>
              </a:solidFill>
              <a:latin typeface="HY헤드라인M"/>
              <a:ea typeface="HY헤드라인M"/>
              <a:cs typeface="HY헤드라인M"/>
            </a:endParaRPr>
          </a:p>
          <a:p>
            <a:pPr algn="l">
              <a:spcBef>
                <a:spcPts val="250"/>
              </a:spcBef>
            </a:pPr>
            <a:r>
              <a:rPr sz="1400" b="0" dirty="0" err="1">
                <a:solidFill>
                  <a:srgbClr val="33414E"/>
                </a:solidFill>
                <a:latin typeface="맑은 고딕"/>
                <a:ea typeface="맑은 고딕"/>
                <a:cs typeface="맑은 고딕"/>
              </a:rPr>
              <a:t>같은</a:t>
            </a:r>
            <a:r>
              <a:rPr sz="1400" b="0" dirty="0">
                <a:solidFill>
                  <a:srgbClr val="33414E"/>
                </a:solidFill>
                <a:latin typeface="맑은 고딕"/>
                <a:ea typeface="맑은 고딕"/>
                <a:cs typeface="맑은 고딕"/>
              </a:rPr>
              <a:t> </a:t>
            </a:r>
            <a:r>
              <a:rPr sz="1400" b="0" dirty="0" err="1">
                <a:solidFill>
                  <a:srgbClr val="33414E"/>
                </a:solidFill>
                <a:latin typeface="맑은 고딕"/>
                <a:ea typeface="맑은 고딕"/>
                <a:cs typeface="맑은 고딕"/>
              </a:rPr>
              <a:t>출발지에서</a:t>
            </a:r>
            <a:r>
              <a:rPr sz="1400" b="0" dirty="0">
                <a:solidFill>
                  <a:srgbClr val="33414E"/>
                </a:solidFill>
                <a:latin typeface="맑은 고딕"/>
                <a:ea typeface="맑은 고딕"/>
                <a:cs typeface="맑은 고딕"/>
              </a:rPr>
              <a:t> </a:t>
            </a:r>
            <a:r>
              <a:rPr sz="1400" b="0" dirty="0" err="1">
                <a:solidFill>
                  <a:srgbClr val="33414E"/>
                </a:solidFill>
                <a:latin typeface="맑은 고딕"/>
                <a:ea typeface="맑은 고딕"/>
                <a:cs typeface="맑은 고딕"/>
              </a:rPr>
              <a:t>최단</a:t>
            </a:r>
            <a:r>
              <a:rPr sz="1400" b="0" dirty="0">
                <a:solidFill>
                  <a:srgbClr val="33414E"/>
                </a:solidFill>
                <a:latin typeface="맑은 고딕"/>
                <a:ea typeface="맑은 고딕"/>
                <a:cs typeface="맑은 고딕"/>
              </a:rPr>
              <a:t> </a:t>
            </a:r>
            <a:r>
              <a:rPr sz="1400" b="0" dirty="0" err="1">
                <a:solidFill>
                  <a:srgbClr val="33414E"/>
                </a:solidFill>
                <a:latin typeface="맑은 고딕"/>
                <a:ea typeface="맑은 고딕"/>
                <a:cs typeface="맑은 고딕"/>
              </a:rPr>
              <a:t>경로와</a:t>
            </a:r>
            <a:r>
              <a:rPr sz="1400" b="0" dirty="0">
                <a:solidFill>
                  <a:srgbClr val="33414E"/>
                </a:solidFill>
                <a:latin typeface="맑은 고딕"/>
                <a:ea typeface="맑은 고딕"/>
                <a:cs typeface="맑은 고딕"/>
              </a:rPr>
              <a:t> </a:t>
            </a:r>
            <a:r>
              <a:rPr sz="1400" b="0" dirty="0" err="1">
                <a:solidFill>
                  <a:srgbClr val="33414E"/>
                </a:solidFill>
                <a:latin typeface="맑은 고딕"/>
                <a:ea typeface="맑은 고딕"/>
                <a:cs typeface="맑은 고딕"/>
              </a:rPr>
              <a:t>미래</a:t>
            </a:r>
            <a:r>
              <a:rPr sz="1400" b="0" dirty="0">
                <a:solidFill>
                  <a:srgbClr val="33414E"/>
                </a:solidFill>
                <a:latin typeface="맑은 고딕"/>
                <a:ea typeface="맑은 고딕"/>
                <a:cs typeface="맑은 고딕"/>
              </a:rPr>
              <a:t> </a:t>
            </a:r>
            <a:r>
              <a:rPr sz="1400" b="0" dirty="0" err="1">
                <a:solidFill>
                  <a:srgbClr val="33414E"/>
                </a:solidFill>
                <a:latin typeface="맑은 고딕"/>
                <a:ea typeface="맑은 고딕"/>
                <a:cs typeface="맑은 고딕"/>
              </a:rPr>
              <a:t>인지</a:t>
            </a:r>
            <a:r>
              <a:rPr sz="1400" b="0" dirty="0">
                <a:solidFill>
                  <a:srgbClr val="33414E"/>
                </a:solidFill>
                <a:latin typeface="맑은 고딕"/>
                <a:ea typeface="맑은 고딕"/>
                <a:cs typeface="맑은 고딕"/>
              </a:rPr>
              <a:t> </a:t>
            </a:r>
            <a:r>
              <a:rPr sz="1400" b="0" dirty="0" err="1">
                <a:solidFill>
                  <a:srgbClr val="33414E"/>
                </a:solidFill>
                <a:latin typeface="맑은 고딕"/>
                <a:ea typeface="맑은 고딕"/>
                <a:cs typeface="맑은 고딕"/>
              </a:rPr>
              <a:t>경로가</a:t>
            </a:r>
            <a:r>
              <a:rPr sz="1400" b="0" dirty="0">
                <a:solidFill>
                  <a:srgbClr val="33414E"/>
                </a:solidFill>
                <a:latin typeface="맑은 고딕"/>
                <a:ea typeface="맑은 고딕"/>
                <a:cs typeface="맑은 고딕"/>
              </a:rPr>
              <a:t> </a:t>
            </a:r>
            <a:r>
              <a:rPr sz="1400" b="0" dirty="0" err="1">
                <a:solidFill>
                  <a:srgbClr val="33414E"/>
                </a:solidFill>
                <a:latin typeface="맑은 고딕"/>
                <a:ea typeface="맑은 고딕"/>
                <a:cs typeface="맑은 고딕"/>
              </a:rPr>
              <a:t>갈립니다</a:t>
            </a:r>
            <a:r>
              <a:rPr lang="ko-KR" altLang="en-US" sz="1400" dirty="0">
                <a:solidFill>
                  <a:srgbClr val="33414E"/>
                </a:solidFill>
                <a:latin typeface="맑은 고딕"/>
                <a:ea typeface="맑은 고딕"/>
                <a:cs typeface="맑은 고딕"/>
              </a:rPr>
              <a:t> </a:t>
            </a:r>
            <a:r>
              <a:rPr lang="en-US" altLang="ko-KR" sz="1400" dirty="0">
                <a:solidFill>
                  <a:srgbClr val="33414E"/>
                </a:solidFill>
                <a:latin typeface="맑은 고딕"/>
                <a:ea typeface="맑은 고딕"/>
                <a:cs typeface="맑은 고딕"/>
              </a:rPr>
              <a:t>-</a:t>
            </a:r>
            <a:r>
              <a:rPr lang="ko-KR" altLang="en-US" sz="1400" dirty="0">
                <a:solidFill>
                  <a:srgbClr val="33414E"/>
                </a:solidFill>
                <a:latin typeface="맑은 고딕"/>
                <a:ea typeface="맑은 고딕"/>
                <a:cs typeface="맑은 고딕"/>
              </a:rPr>
              <a:t> </a:t>
            </a:r>
            <a:r>
              <a:rPr sz="1400" b="0" dirty="0" err="1">
                <a:solidFill>
                  <a:srgbClr val="33414E"/>
                </a:solidFill>
                <a:latin typeface="맑은 고딕"/>
                <a:ea typeface="맑은 고딕"/>
                <a:cs typeface="맑은 고딕"/>
              </a:rPr>
              <a:t>실제</a:t>
            </a:r>
            <a:r>
              <a:rPr sz="1400" b="0" dirty="0">
                <a:solidFill>
                  <a:srgbClr val="33414E"/>
                </a:solidFill>
                <a:latin typeface="맑은 고딕"/>
                <a:ea typeface="맑은 고딕"/>
                <a:cs typeface="맑은 고딕"/>
              </a:rPr>
              <a:t> </a:t>
            </a:r>
            <a:r>
              <a:rPr sz="1400" b="0" dirty="0" err="1">
                <a:solidFill>
                  <a:srgbClr val="33414E"/>
                </a:solidFill>
                <a:latin typeface="맑은 고딕"/>
                <a:ea typeface="맑은 고딕"/>
                <a:cs typeface="맑은 고딕"/>
              </a:rPr>
              <a:t>영덕</a:t>
            </a:r>
            <a:r>
              <a:rPr sz="1400" b="0" dirty="0">
                <a:solidFill>
                  <a:srgbClr val="33414E"/>
                </a:solidFill>
                <a:latin typeface="맑은 고딕"/>
                <a:ea typeface="맑은 고딕"/>
                <a:cs typeface="맑은 고딕"/>
              </a:rPr>
              <a:t> </a:t>
            </a:r>
            <a:r>
              <a:rPr sz="1400" b="0" dirty="0" err="1">
                <a:solidFill>
                  <a:srgbClr val="33414E"/>
                </a:solidFill>
                <a:latin typeface="맑은 고딕"/>
                <a:ea typeface="맑은 고딕"/>
                <a:cs typeface="맑은 고딕"/>
              </a:rPr>
              <a:t>도로망</a:t>
            </a:r>
            <a:r>
              <a:rPr sz="1400" b="0" dirty="0">
                <a:solidFill>
                  <a:srgbClr val="33414E"/>
                </a:solidFill>
                <a:latin typeface="맑은 고딕"/>
                <a:ea typeface="맑은 고딕"/>
                <a:cs typeface="맑은 고딕"/>
              </a:rPr>
              <a:t> </a:t>
            </a:r>
            <a:r>
              <a:rPr sz="1400" b="0" dirty="0" err="1">
                <a:solidFill>
                  <a:srgbClr val="33414E"/>
                </a:solidFill>
                <a:latin typeface="맑은 고딕"/>
                <a:ea typeface="맑은 고딕"/>
                <a:cs typeface="맑은 고딕"/>
              </a:rPr>
              <a:t>위</a:t>
            </a:r>
            <a:r>
              <a:rPr sz="1400" b="0" dirty="0">
                <a:solidFill>
                  <a:srgbClr val="33414E"/>
                </a:solidFill>
                <a:latin typeface="맑은 고딕"/>
                <a:ea typeface="맑은 고딕"/>
                <a:cs typeface="맑은 고딕"/>
              </a:rPr>
              <a:t> 439곳 </a:t>
            </a:r>
            <a:r>
              <a:rPr sz="1400" b="0" dirty="0" err="1">
                <a:solidFill>
                  <a:srgbClr val="33414E"/>
                </a:solidFill>
                <a:latin typeface="맑은 고딕"/>
                <a:ea typeface="맑은 고딕"/>
                <a:cs typeface="맑은 고딕"/>
              </a:rPr>
              <a:t>전체</a:t>
            </a:r>
            <a:r>
              <a:rPr sz="1400" b="0" dirty="0">
                <a:solidFill>
                  <a:srgbClr val="33414E"/>
                </a:solidFill>
                <a:latin typeface="맑은 고딕"/>
                <a:ea typeface="맑은 고딕"/>
                <a:cs typeface="맑은 고딕"/>
              </a:rPr>
              <a:t> </a:t>
            </a:r>
            <a:r>
              <a:rPr sz="1400" b="0" dirty="0" err="1">
                <a:solidFill>
                  <a:srgbClr val="33414E"/>
                </a:solidFill>
                <a:latin typeface="맑은 고딕"/>
                <a:ea typeface="맑은 고딕"/>
                <a:cs typeface="맑은 고딕"/>
              </a:rPr>
              <a:t>결과입니다</a:t>
            </a:r>
            <a:r>
              <a:rPr sz="1400" b="0" dirty="0">
                <a:solidFill>
                  <a:srgbClr val="33414E"/>
                </a:solidFill>
                <a:latin typeface="맑은 고딕"/>
                <a:ea typeface="맑은 고딕"/>
                <a:cs typeface="맑은 고딕"/>
              </a:rPr>
              <a:t>.</a:t>
            </a:r>
          </a:p>
        </p:txBody>
      </p:sp>
      <p:pic>
        <p:nvPicPr>
          <p:cNvPr id="3" name="Picture 2" descr="rescue_map.png"/>
          <p:cNvPicPr>
            <a:picLocks noChangeAspect="1"/>
          </p:cNvPicPr>
          <p:nvPr/>
        </p:nvPicPr>
        <p:blipFill>
          <a:blip r:embed="rId3"/>
          <a:srcRect b="2729"/>
          <a:stretch>
            <a:fillRect/>
          </a:stretch>
        </p:blipFill>
        <p:spPr>
          <a:xfrm>
            <a:off x="502920" y="1207008"/>
            <a:ext cx="6284325" cy="4820813"/>
          </a:xfrm>
          <a:prstGeom prst="rect">
            <a:avLst/>
          </a:prstGeom>
        </p:spPr>
      </p:pic>
      <p:sp>
        <p:nvSpPr>
          <p:cNvPr id="4" name="Rounded Rectangle 3"/>
          <p:cNvSpPr/>
          <p:nvPr/>
        </p:nvSpPr>
        <p:spPr>
          <a:xfrm>
            <a:off x="7635240" y="1417320"/>
            <a:ext cx="3977639" cy="3800000"/>
          </a:xfrm>
          <a:prstGeom prst="roundRect">
            <a:avLst>
              <a:gd name="adj" fmla="val 8000"/>
            </a:avLst>
          </a:prstGeom>
          <a:solidFill>
            <a:srgbClr val="F2F5F8"/>
          </a:solidFill>
          <a:ln w="1524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00416" y="1627632"/>
            <a:ext cx="3493008" cy="3098349"/>
          </a:xfrm>
          <a:prstGeom prst="rect">
            <a:avLst/>
          </a:prstGeom>
          <a:noFill/>
        </p:spPr>
        <p:txBody>
          <a:bodyPr wrap="square" lIns="25400" tIns="25400" rIns="25400" bIns="25400" anchor="t">
            <a:spAutoFit/>
          </a:bodyPr>
          <a:lstStyle/>
          <a:p>
            <a:pPr algn="l">
              <a:spcBef>
                <a:spcPts val="0"/>
              </a:spcBef>
              <a:spcAft>
                <a:spcPts val="1300"/>
              </a:spcAft>
            </a:pPr>
            <a:r>
              <a:rPr sz="1700" b="1" dirty="0" err="1">
                <a:solidFill>
                  <a:srgbClr val="0E2841"/>
                </a:solidFill>
                <a:latin typeface="HY헤드라인M"/>
                <a:ea typeface="HY헤드라인M"/>
                <a:cs typeface="HY헤드라인M"/>
              </a:rPr>
              <a:t>실제</a:t>
            </a:r>
            <a:r>
              <a:rPr sz="1700" b="1" dirty="0">
                <a:solidFill>
                  <a:srgbClr val="0E2841"/>
                </a:solidFill>
                <a:latin typeface="HY헤드라인M"/>
                <a:ea typeface="HY헤드라인M"/>
                <a:cs typeface="HY헤드라인M"/>
              </a:rPr>
              <a:t> </a:t>
            </a:r>
            <a:r>
              <a:rPr sz="1700" b="1" dirty="0" err="1">
                <a:solidFill>
                  <a:srgbClr val="0E2841"/>
                </a:solidFill>
                <a:latin typeface="HY헤드라인M"/>
                <a:ea typeface="HY헤드라인M"/>
                <a:cs typeface="HY헤드라인M"/>
              </a:rPr>
              <a:t>지오메트리</a:t>
            </a:r>
            <a:r>
              <a:rPr sz="1700" b="1" dirty="0">
                <a:solidFill>
                  <a:srgbClr val="0E2841"/>
                </a:solidFill>
                <a:latin typeface="HY헤드라인M"/>
                <a:ea typeface="HY헤드라인M"/>
                <a:cs typeface="HY헤드라인M"/>
              </a:rPr>
              <a:t>, 439곳</a:t>
            </a:r>
          </a:p>
          <a:p>
            <a:pPr algn="l">
              <a:lnSpc>
                <a:spcPct val="120000"/>
              </a:lnSpc>
              <a:spcBef>
                <a:spcPts val="0"/>
              </a:spcBef>
              <a:spcAft>
                <a:spcPts val="300"/>
              </a:spcAft>
            </a:pPr>
            <a:r>
              <a:rPr lang="ko-KR" altLang="en-US" sz="1400" dirty="0">
                <a:solidFill>
                  <a:srgbClr val="2A3845"/>
                </a:solidFill>
                <a:latin typeface="맑은 고딕"/>
                <a:ea typeface="맑은 고딕"/>
                <a:cs typeface="맑은 고딕"/>
              </a:rPr>
              <a:t>구조대 도달 가능 대피소</a:t>
            </a:r>
            <a:r>
              <a:rPr lang="en-US" altLang="ko-KR" sz="1400" dirty="0">
                <a:solidFill>
                  <a:srgbClr val="2A3845"/>
                </a:solidFill>
                <a:latin typeface="맑은 고딕"/>
                <a:ea typeface="맑은 고딕"/>
                <a:cs typeface="맑은 고딕"/>
              </a:rPr>
              <a:t>:</a:t>
            </a:r>
            <a:r>
              <a:rPr sz="1400" b="0" dirty="0">
                <a:solidFill>
                  <a:srgbClr val="2A3845"/>
                </a:solidFill>
                <a:latin typeface="맑은 고딕"/>
                <a:ea typeface="맑은 고딕"/>
                <a:cs typeface="맑은 고딕"/>
              </a:rPr>
              <a:t>   </a:t>
            </a:r>
            <a:r>
              <a:rPr sz="1650" b="1" dirty="0">
                <a:solidFill>
                  <a:srgbClr val="196B24"/>
                </a:solidFill>
                <a:latin typeface="맑은 고딕"/>
                <a:ea typeface="맑은 고딕"/>
                <a:cs typeface="맑은 고딕"/>
              </a:rPr>
              <a:t>24 / 50</a:t>
            </a:r>
          </a:p>
          <a:p>
            <a:pPr algn="l">
              <a:lnSpc>
                <a:spcPct val="120000"/>
              </a:lnSpc>
              <a:spcBef>
                <a:spcPts val="0"/>
              </a:spcBef>
              <a:spcAft>
                <a:spcPts val="300"/>
              </a:spcAft>
            </a:pPr>
            <a:r>
              <a:rPr sz="1400" b="0" dirty="0" err="1">
                <a:solidFill>
                  <a:srgbClr val="2A3845"/>
                </a:solidFill>
                <a:latin typeface="맑은 고딕"/>
                <a:ea typeface="맑은 고딕"/>
                <a:cs typeface="맑은 고딕"/>
              </a:rPr>
              <a:t>구조</a:t>
            </a:r>
            <a:r>
              <a:rPr sz="1400" b="0" dirty="0">
                <a:solidFill>
                  <a:srgbClr val="2A3845"/>
                </a:solidFill>
                <a:latin typeface="맑은 고딕"/>
                <a:ea typeface="맑은 고딕"/>
                <a:cs typeface="맑은 고딕"/>
              </a:rPr>
              <a:t> </a:t>
            </a:r>
            <a:r>
              <a:rPr sz="1400" b="0" dirty="0" err="1">
                <a:solidFill>
                  <a:srgbClr val="2A3845"/>
                </a:solidFill>
                <a:latin typeface="맑은 고딕"/>
                <a:ea typeface="맑은 고딕"/>
                <a:cs typeface="맑은 고딕"/>
              </a:rPr>
              <a:t>도달</a:t>
            </a:r>
            <a:r>
              <a:rPr sz="1400" b="0" dirty="0">
                <a:solidFill>
                  <a:srgbClr val="2A3845"/>
                </a:solidFill>
                <a:latin typeface="맑은 고딕"/>
                <a:ea typeface="맑은 고딕"/>
                <a:cs typeface="맑은 고딕"/>
              </a:rPr>
              <a:t> </a:t>
            </a:r>
            <a:r>
              <a:rPr sz="1400" b="0" dirty="0" err="1">
                <a:solidFill>
                  <a:srgbClr val="2A3845"/>
                </a:solidFill>
                <a:latin typeface="맑은 고딕"/>
                <a:ea typeface="맑은 고딕"/>
                <a:cs typeface="맑은 고딕"/>
              </a:rPr>
              <a:t>불가</a:t>
            </a:r>
            <a:r>
              <a:rPr sz="1400" b="0" dirty="0">
                <a:solidFill>
                  <a:srgbClr val="2A3845"/>
                </a:solidFill>
                <a:latin typeface="맑은 고딕"/>
                <a:ea typeface="맑은 고딕"/>
                <a:cs typeface="맑은 고딕"/>
              </a:rPr>
              <a:t> </a:t>
            </a:r>
            <a:r>
              <a:rPr sz="1400" b="0" dirty="0" err="1">
                <a:solidFill>
                  <a:srgbClr val="2A3845"/>
                </a:solidFill>
                <a:latin typeface="맑은 고딕"/>
                <a:ea typeface="맑은 고딕"/>
                <a:cs typeface="맑은 고딕"/>
              </a:rPr>
              <a:t>출발지</a:t>
            </a:r>
            <a:r>
              <a:rPr lang="en-US" altLang="ko-KR" sz="1400" b="0" dirty="0">
                <a:solidFill>
                  <a:srgbClr val="2A3845"/>
                </a:solidFill>
                <a:latin typeface="맑은 고딕"/>
                <a:ea typeface="맑은 고딕"/>
                <a:cs typeface="맑은 고딕"/>
              </a:rPr>
              <a:t>:</a:t>
            </a:r>
            <a:r>
              <a:rPr sz="1400" b="0" dirty="0">
                <a:solidFill>
                  <a:srgbClr val="2A3845"/>
                </a:solidFill>
                <a:latin typeface="맑은 고딕"/>
                <a:ea typeface="맑은 고딕"/>
                <a:cs typeface="맑은 고딕"/>
              </a:rPr>
              <a:t>   </a:t>
            </a:r>
            <a:r>
              <a:rPr sz="1650" b="1" dirty="0">
                <a:solidFill>
                  <a:srgbClr val="B0470E"/>
                </a:solidFill>
                <a:latin typeface="맑은 고딕"/>
                <a:ea typeface="맑은 고딕"/>
                <a:cs typeface="맑은 고딕"/>
              </a:rPr>
              <a:t>24곳</a:t>
            </a:r>
          </a:p>
          <a:p>
            <a:pPr algn="l">
              <a:lnSpc>
                <a:spcPct val="120000"/>
              </a:lnSpc>
              <a:spcBef>
                <a:spcPts val="0"/>
              </a:spcBef>
              <a:spcAft>
                <a:spcPts val="1400"/>
              </a:spcAft>
            </a:pPr>
            <a:r>
              <a:rPr sz="1200" b="0" dirty="0" err="1">
                <a:solidFill>
                  <a:srgbClr val="6B7A88"/>
                </a:solidFill>
                <a:latin typeface="맑은 고딕"/>
                <a:ea typeface="맑은 고딕"/>
                <a:cs typeface="맑은 고딕"/>
              </a:rPr>
              <a:t>진입</a:t>
            </a:r>
            <a:r>
              <a:rPr sz="1200" b="0" dirty="0">
                <a:solidFill>
                  <a:srgbClr val="6B7A88"/>
                </a:solidFill>
                <a:latin typeface="맑은 고딕"/>
                <a:ea typeface="맑은 고딕"/>
                <a:cs typeface="맑은 고딕"/>
              </a:rPr>
              <a:t> </a:t>
            </a:r>
            <a:r>
              <a:rPr sz="1200" b="0" dirty="0" err="1">
                <a:solidFill>
                  <a:srgbClr val="6B7A88"/>
                </a:solidFill>
                <a:latin typeface="맑은 고딕"/>
                <a:ea typeface="맑은 고딕"/>
                <a:cs typeface="맑은 고딕"/>
              </a:rPr>
              <a:t>경로</a:t>
            </a:r>
            <a:r>
              <a:rPr lang="ko-KR" altLang="en-US" sz="1200" b="0" dirty="0">
                <a:solidFill>
                  <a:srgbClr val="6B7A88"/>
                </a:solidFill>
                <a:latin typeface="맑은 고딕"/>
                <a:ea typeface="맑은 고딕"/>
                <a:cs typeface="맑은 고딕"/>
              </a:rPr>
              <a:t> 위험 </a:t>
            </a:r>
            <a:r>
              <a:rPr lang="ko-KR" altLang="en-US" sz="1200" b="0" dirty="0" err="1">
                <a:solidFill>
                  <a:srgbClr val="6B7A88"/>
                </a:solidFill>
                <a:latin typeface="맑은 고딕"/>
                <a:ea typeface="맑은 고딕"/>
                <a:cs typeface="맑은 고딕"/>
              </a:rPr>
              <a:t>임계값</a:t>
            </a:r>
            <a:r>
              <a:rPr lang="ko-KR" altLang="en-US" sz="1200" b="0" dirty="0">
                <a:solidFill>
                  <a:srgbClr val="6B7A88"/>
                </a:solidFill>
                <a:latin typeface="맑은 고딕"/>
                <a:ea typeface="맑은 고딕"/>
                <a:cs typeface="맑은 고딕"/>
              </a:rPr>
              <a:t> 초과 시 </a:t>
            </a:r>
            <a:r>
              <a:rPr lang="en-US" altLang="ko-KR" sz="1200" b="0" dirty="0">
                <a:solidFill>
                  <a:srgbClr val="6B7A88"/>
                </a:solidFill>
                <a:latin typeface="맑은 고딕"/>
                <a:ea typeface="맑은 고딕"/>
                <a:cs typeface="맑은 고딕"/>
              </a:rPr>
              <a:t>‘</a:t>
            </a:r>
            <a:r>
              <a:rPr lang="ko-KR" altLang="en-US" sz="1200" b="0" dirty="0">
                <a:solidFill>
                  <a:srgbClr val="6B7A88"/>
                </a:solidFill>
                <a:latin typeface="맑은 고딕"/>
                <a:ea typeface="맑은 고딕"/>
                <a:cs typeface="맑은 고딕"/>
              </a:rPr>
              <a:t>도달 불가</a:t>
            </a:r>
            <a:r>
              <a:rPr lang="en-US" altLang="ko-KR" sz="1200" b="0" dirty="0">
                <a:solidFill>
                  <a:srgbClr val="6B7A88"/>
                </a:solidFill>
                <a:latin typeface="맑은 고딕"/>
                <a:ea typeface="맑은 고딕"/>
                <a:cs typeface="맑은 고딕"/>
              </a:rPr>
              <a:t>’</a:t>
            </a:r>
            <a:r>
              <a:rPr lang="ko-KR" altLang="en-US" sz="1200" b="0" dirty="0">
                <a:solidFill>
                  <a:srgbClr val="6B7A88"/>
                </a:solidFill>
                <a:latin typeface="맑은 고딕"/>
                <a:ea typeface="맑은 고딕"/>
                <a:cs typeface="맑은 고딕"/>
              </a:rPr>
              <a:t>로 보고</a:t>
            </a:r>
            <a:endParaRPr sz="1200" b="0" dirty="0">
              <a:solidFill>
                <a:srgbClr val="6B7A88"/>
              </a:solidFill>
              <a:latin typeface="맑은 고딕"/>
              <a:ea typeface="맑은 고딕"/>
              <a:cs typeface="맑은 고딕"/>
            </a:endParaRPr>
          </a:p>
          <a:p>
            <a:pPr algn="l">
              <a:lnSpc>
                <a:spcPct val="130000"/>
              </a:lnSpc>
              <a:spcBef>
                <a:spcPts val="0"/>
              </a:spcBef>
              <a:spcAft>
                <a:spcPts val="1300"/>
              </a:spcAft>
            </a:pPr>
            <a:r>
              <a:rPr sz="1350" b="1" dirty="0" err="1">
                <a:solidFill>
                  <a:srgbClr val="0B6E96"/>
                </a:solidFill>
                <a:latin typeface="맑은 고딕"/>
                <a:ea typeface="맑은 고딕"/>
                <a:cs typeface="맑은 고딕"/>
              </a:rPr>
              <a:t>미래</a:t>
            </a:r>
            <a:r>
              <a:rPr sz="1350" b="1" dirty="0">
                <a:solidFill>
                  <a:srgbClr val="0B6E96"/>
                </a:solidFill>
                <a:latin typeface="맑은 고딕"/>
                <a:ea typeface="맑은 고딕"/>
                <a:cs typeface="맑은 고딕"/>
              </a:rPr>
              <a:t> </a:t>
            </a:r>
            <a:r>
              <a:rPr sz="1350" b="1" dirty="0" err="1">
                <a:solidFill>
                  <a:srgbClr val="0B6E96"/>
                </a:solidFill>
                <a:latin typeface="맑은 고딕"/>
                <a:ea typeface="맑은 고딕"/>
                <a:cs typeface="맑은 고딕"/>
              </a:rPr>
              <a:t>인지</a:t>
            </a:r>
            <a:r>
              <a:rPr sz="1350" b="1" dirty="0">
                <a:solidFill>
                  <a:srgbClr val="0B6E96"/>
                </a:solidFill>
                <a:latin typeface="맑은 고딕"/>
                <a:ea typeface="맑은 고딕"/>
                <a:cs typeface="맑은 고딕"/>
              </a:rPr>
              <a:t> </a:t>
            </a:r>
            <a:r>
              <a:rPr sz="1350" b="1" dirty="0" err="1">
                <a:solidFill>
                  <a:srgbClr val="0B6E96"/>
                </a:solidFill>
                <a:latin typeface="맑은 고딕"/>
                <a:ea typeface="맑은 고딕"/>
                <a:cs typeface="맑은 고딕"/>
              </a:rPr>
              <a:t>경로</a:t>
            </a:r>
            <a:r>
              <a:rPr sz="1350" b="0" dirty="0" err="1">
                <a:solidFill>
                  <a:srgbClr val="2A3845"/>
                </a:solidFill>
                <a:latin typeface="맑은 고딕"/>
                <a:ea typeface="맑은 고딕"/>
                <a:cs typeface="맑은 고딕"/>
              </a:rPr>
              <a:t>는</a:t>
            </a:r>
            <a:r>
              <a:rPr sz="1350" b="0" dirty="0">
                <a:solidFill>
                  <a:srgbClr val="2A3845"/>
                </a:solidFill>
                <a:latin typeface="맑은 고딕"/>
                <a:ea typeface="맑은 고딕"/>
                <a:cs typeface="맑은 고딕"/>
              </a:rPr>
              <a:t> </a:t>
            </a:r>
            <a:r>
              <a:rPr sz="1350" b="0" dirty="0" err="1">
                <a:solidFill>
                  <a:srgbClr val="2A3845"/>
                </a:solidFill>
                <a:latin typeface="맑은 고딕"/>
                <a:ea typeface="맑은 고딕"/>
                <a:cs typeface="맑은 고딕"/>
              </a:rPr>
              <a:t>화재</a:t>
            </a:r>
            <a:r>
              <a:rPr sz="1350" b="0" dirty="0">
                <a:solidFill>
                  <a:srgbClr val="2A3845"/>
                </a:solidFill>
                <a:latin typeface="맑은 고딕"/>
                <a:ea typeface="맑은 고딕"/>
                <a:cs typeface="맑은 고딕"/>
              </a:rPr>
              <a:t> </a:t>
            </a:r>
            <a:r>
              <a:rPr sz="1350" b="0" dirty="0" err="1">
                <a:solidFill>
                  <a:srgbClr val="2A3845"/>
                </a:solidFill>
                <a:latin typeface="맑은 고딕"/>
                <a:ea typeface="맑은 고딕"/>
                <a:cs typeface="맑은 고딕"/>
              </a:rPr>
              <a:t>위험</a:t>
            </a:r>
            <a:r>
              <a:rPr sz="1350" b="0" dirty="0">
                <a:solidFill>
                  <a:srgbClr val="2A3845"/>
                </a:solidFill>
                <a:latin typeface="맑은 고딕"/>
                <a:ea typeface="맑은 고딕"/>
                <a:cs typeface="맑은 고딕"/>
              </a:rPr>
              <a:t> </a:t>
            </a:r>
            <a:r>
              <a:rPr sz="1350" b="0" dirty="0" err="1">
                <a:solidFill>
                  <a:srgbClr val="2A3845"/>
                </a:solidFill>
                <a:latin typeface="맑은 고딕"/>
                <a:ea typeface="맑은 고딕"/>
                <a:cs typeface="맑은 고딕"/>
              </a:rPr>
              <a:t>지역을</a:t>
            </a:r>
            <a:r>
              <a:rPr sz="1350" b="0" dirty="0">
                <a:solidFill>
                  <a:srgbClr val="2A3845"/>
                </a:solidFill>
                <a:latin typeface="맑은 고딕"/>
                <a:ea typeface="맑은 고딕"/>
                <a:cs typeface="맑은 고딕"/>
              </a:rPr>
              <a:t> </a:t>
            </a:r>
            <a:r>
              <a:rPr sz="1350" b="0" dirty="0" err="1">
                <a:solidFill>
                  <a:srgbClr val="2A3845"/>
                </a:solidFill>
                <a:latin typeface="맑은 고딕"/>
                <a:ea typeface="맑은 고딕"/>
                <a:cs typeface="맑은 고딕"/>
              </a:rPr>
              <a:t>우회하고</a:t>
            </a:r>
            <a:r>
              <a:rPr sz="1350" b="0" dirty="0">
                <a:solidFill>
                  <a:srgbClr val="2A3845"/>
                </a:solidFill>
                <a:latin typeface="맑은 고딕"/>
                <a:ea typeface="맑은 고딕"/>
                <a:cs typeface="맑은 고딕"/>
              </a:rPr>
              <a:t>, </a:t>
            </a:r>
            <a:r>
              <a:rPr sz="1350" b="0" dirty="0" err="1">
                <a:solidFill>
                  <a:srgbClr val="2A3845"/>
                </a:solidFill>
                <a:latin typeface="맑은 고딕"/>
                <a:ea typeface="맑은 고딕"/>
                <a:cs typeface="맑은 고딕"/>
              </a:rPr>
              <a:t>구조대</a:t>
            </a:r>
            <a:r>
              <a:rPr sz="1350" b="0" dirty="0">
                <a:solidFill>
                  <a:srgbClr val="2A3845"/>
                </a:solidFill>
                <a:latin typeface="맑은 고딕"/>
                <a:ea typeface="맑은 고딕"/>
                <a:cs typeface="맑은 고딕"/>
              </a:rPr>
              <a:t> </a:t>
            </a:r>
            <a:r>
              <a:rPr sz="1350" b="0" dirty="0" err="1">
                <a:solidFill>
                  <a:srgbClr val="2A3845"/>
                </a:solidFill>
                <a:latin typeface="맑은 고딕"/>
                <a:ea typeface="맑은 고딕"/>
                <a:cs typeface="맑은 고딕"/>
              </a:rPr>
              <a:t>차량</a:t>
            </a:r>
            <a:r>
              <a:rPr sz="1350" b="0" dirty="0">
                <a:solidFill>
                  <a:srgbClr val="2A3845"/>
                </a:solidFill>
                <a:latin typeface="맑은 고딕"/>
                <a:ea typeface="맑은 고딕"/>
                <a:cs typeface="맑은 고딕"/>
              </a:rPr>
              <a:t> </a:t>
            </a:r>
            <a:r>
              <a:rPr sz="1350" b="0" dirty="0" err="1">
                <a:solidFill>
                  <a:srgbClr val="2A3845"/>
                </a:solidFill>
                <a:latin typeface="맑은 고딕"/>
                <a:ea typeface="맑은 고딕"/>
                <a:cs typeface="맑은 고딕"/>
              </a:rPr>
              <a:t>경로는</a:t>
            </a:r>
            <a:r>
              <a:rPr sz="1350" b="0" dirty="0">
                <a:solidFill>
                  <a:srgbClr val="2A3845"/>
                </a:solidFill>
                <a:latin typeface="맑은 고딕"/>
                <a:ea typeface="맑은 고딕"/>
                <a:cs typeface="맑은 고딕"/>
              </a:rPr>
              <a:t> </a:t>
            </a:r>
            <a:r>
              <a:rPr sz="1350" b="0" dirty="0" err="1">
                <a:solidFill>
                  <a:srgbClr val="2A3845"/>
                </a:solidFill>
                <a:latin typeface="맑은 고딕"/>
                <a:ea typeface="맑은 고딕"/>
                <a:cs typeface="맑은 고딕"/>
              </a:rPr>
              <a:t>진입</a:t>
            </a:r>
            <a:r>
              <a:rPr sz="1350" b="0" dirty="0">
                <a:solidFill>
                  <a:srgbClr val="2A3845"/>
                </a:solidFill>
                <a:latin typeface="맑은 고딕"/>
                <a:ea typeface="맑은 고딕"/>
                <a:cs typeface="맑은 고딕"/>
              </a:rPr>
              <a:t> </a:t>
            </a:r>
            <a:r>
              <a:rPr sz="1350" b="0" dirty="0" err="1">
                <a:solidFill>
                  <a:srgbClr val="2A3845"/>
                </a:solidFill>
                <a:latin typeface="맑은 고딕"/>
                <a:ea typeface="맑은 고딕"/>
                <a:cs typeface="맑은 고딕"/>
              </a:rPr>
              <a:t>경로가</a:t>
            </a:r>
            <a:r>
              <a:rPr sz="1350" b="0" dirty="0">
                <a:solidFill>
                  <a:srgbClr val="2A3845"/>
                </a:solidFill>
                <a:latin typeface="맑은 고딕"/>
                <a:ea typeface="맑은 고딕"/>
                <a:cs typeface="맑은 고딕"/>
              </a:rPr>
              <a:t> </a:t>
            </a:r>
            <a:r>
              <a:rPr sz="1350" b="0" dirty="0" err="1">
                <a:solidFill>
                  <a:srgbClr val="2A3845"/>
                </a:solidFill>
                <a:latin typeface="맑은 고딕"/>
                <a:ea typeface="맑은 고딕"/>
                <a:cs typeface="맑은 고딕"/>
              </a:rPr>
              <a:t>위험</a:t>
            </a:r>
            <a:r>
              <a:rPr sz="1350" b="0" dirty="0">
                <a:solidFill>
                  <a:srgbClr val="2A3845"/>
                </a:solidFill>
                <a:latin typeface="맑은 고딕"/>
                <a:ea typeface="맑은 고딕"/>
                <a:cs typeface="맑은 고딕"/>
              </a:rPr>
              <a:t> </a:t>
            </a:r>
            <a:r>
              <a:rPr sz="1350" b="0" dirty="0" err="1">
                <a:solidFill>
                  <a:srgbClr val="2A3845"/>
                </a:solidFill>
                <a:latin typeface="맑은 고딕"/>
                <a:ea typeface="맑은 고딕"/>
                <a:cs typeface="맑은 고딕"/>
              </a:rPr>
              <a:t>임계값을</a:t>
            </a:r>
            <a:r>
              <a:rPr sz="1350" b="0" dirty="0">
                <a:solidFill>
                  <a:srgbClr val="2A3845"/>
                </a:solidFill>
                <a:latin typeface="맑은 고딕"/>
                <a:ea typeface="맑은 고딕"/>
                <a:cs typeface="맑은 고딕"/>
              </a:rPr>
              <a:t> </a:t>
            </a:r>
            <a:r>
              <a:rPr sz="1350" b="0" dirty="0" err="1">
                <a:solidFill>
                  <a:srgbClr val="2A3845"/>
                </a:solidFill>
                <a:latin typeface="맑은 고딕"/>
                <a:ea typeface="맑은 고딕"/>
                <a:cs typeface="맑은 고딕"/>
              </a:rPr>
              <a:t>넘기</a:t>
            </a:r>
            <a:r>
              <a:rPr sz="1350" b="0" dirty="0">
                <a:solidFill>
                  <a:srgbClr val="2A3845"/>
                </a:solidFill>
                <a:latin typeface="맑은 고딕"/>
                <a:ea typeface="맑은 고딕"/>
                <a:cs typeface="맑은 고딕"/>
              </a:rPr>
              <a:t> </a:t>
            </a:r>
            <a:r>
              <a:rPr sz="1350" b="0" dirty="0" err="1">
                <a:solidFill>
                  <a:srgbClr val="2A3845"/>
                </a:solidFill>
                <a:latin typeface="맑은 고딕"/>
                <a:ea typeface="맑은 고딕"/>
                <a:cs typeface="맑은 고딕"/>
              </a:rPr>
              <a:t>전까지의</a:t>
            </a:r>
            <a:r>
              <a:rPr sz="1350" b="0" dirty="0">
                <a:solidFill>
                  <a:srgbClr val="2A3845"/>
                </a:solidFill>
                <a:latin typeface="맑은 고딕"/>
                <a:ea typeface="맑은 고딕"/>
                <a:cs typeface="맑은 고딕"/>
              </a:rPr>
              <a:t> </a:t>
            </a:r>
            <a:r>
              <a:rPr sz="1350" b="0" dirty="0" err="1">
                <a:solidFill>
                  <a:srgbClr val="2A3845"/>
                </a:solidFill>
                <a:latin typeface="맑은 고딕"/>
                <a:ea typeface="맑은 고딕"/>
                <a:cs typeface="맑은 고딕"/>
              </a:rPr>
              <a:t>시간을</a:t>
            </a:r>
            <a:r>
              <a:rPr sz="1350" b="0" dirty="0">
                <a:solidFill>
                  <a:srgbClr val="2A3845"/>
                </a:solidFill>
                <a:latin typeface="맑은 고딕"/>
                <a:ea typeface="맑은 고딕"/>
                <a:cs typeface="맑은 고딕"/>
              </a:rPr>
              <a:t> </a:t>
            </a:r>
            <a:r>
              <a:rPr sz="1350" b="0" dirty="0" err="1">
                <a:solidFill>
                  <a:srgbClr val="2A3845"/>
                </a:solidFill>
                <a:latin typeface="맑은 고딕"/>
                <a:ea typeface="맑은 고딕"/>
                <a:cs typeface="맑은 고딕"/>
              </a:rPr>
              <a:t>반영합니다</a:t>
            </a:r>
            <a:r>
              <a:rPr sz="1350" b="0" dirty="0">
                <a:solidFill>
                  <a:srgbClr val="2A3845"/>
                </a:solidFill>
                <a:latin typeface="맑은 고딕"/>
                <a:ea typeface="맑은 고딕"/>
                <a:cs typeface="맑은 고딕"/>
              </a:rPr>
              <a:t>.</a:t>
            </a:r>
          </a:p>
          <a:p>
            <a:pPr algn="l">
              <a:lnSpc>
                <a:spcPct val="120000"/>
              </a:lnSpc>
              <a:spcBef>
                <a:spcPts val="900"/>
              </a:spcBef>
              <a:spcAft>
                <a:spcPts val="0"/>
              </a:spcAft>
            </a:pPr>
            <a:r>
              <a:rPr sz="1250" b="1" dirty="0" err="1">
                <a:solidFill>
                  <a:srgbClr val="0B6E96"/>
                </a:solidFill>
                <a:latin typeface="맑은 고딕"/>
                <a:ea typeface="맑은 고딕"/>
                <a:cs typeface="맑은 고딕"/>
              </a:rPr>
              <a:t>출동</a:t>
            </a:r>
            <a:r>
              <a:rPr sz="1250" b="1" dirty="0">
                <a:solidFill>
                  <a:srgbClr val="0B6E96"/>
                </a:solidFill>
                <a:latin typeface="맑은 고딕"/>
                <a:ea typeface="맑은 고딕"/>
                <a:cs typeface="맑은 고딕"/>
              </a:rPr>
              <a:t> </a:t>
            </a:r>
            <a:r>
              <a:rPr sz="1250" b="1" dirty="0" err="1">
                <a:solidFill>
                  <a:srgbClr val="0B6E96"/>
                </a:solidFill>
                <a:latin typeface="맑은 고딕"/>
                <a:ea typeface="맑은 고딕"/>
                <a:cs typeface="맑은 고딕"/>
              </a:rPr>
              <a:t>전에</a:t>
            </a:r>
            <a:r>
              <a:rPr sz="1250" b="1" dirty="0">
                <a:solidFill>
                  <a:srgbClr val="0B6E96"/>
                </a:solidFill>
                <a:latin typeface="맑은 고딕"/>
                <a:ea typeface="맑은 고딕"/>
                <a:cs typeface="맑은 고딕"/>
              </a:rPr>
              <a:t> </a:t>
            </a:r>
            <a:r>
              <a:rPr sz="1250" b="1" dirty="0" err="1">
                <a:solidFill>
                  <a:srgbClr val="0B6E96"/>
                </a:solidFill>
                <a:latin typeface="맑은 고딕"/>
                <a:ea typeface="맑은 고딕"/>
                <a:cs typeface="맑은 고딕"/>
              </a:rPr>
              <a:t>도달</a:t>
            </a:r>
            <a:r>
              <a:rPr sz="1250" b="1" dirty="0">
                <a:solidFill>
                  <a:srgbClr val="0B6E96"/>
                </a:solidFill>
                <a:latin typeface="맑은 고딕"/>
                <a:ea typeface="맑은 고딕"/>
                <a:cs typeface="맑은 고딕"/>
              </a:rPr>
              <a:t> </a:t>
            </a:r>
            <a:r>
              <a:rPr sz="1250" b="1" dirty="0" err="1">
                <a:solidFill>
                  <a:srgbClr val="0B6E96"/>
                </a:solidFill>
                <a:latin typeface="맑은 고딕"/>
                <a:ea typeface="맑은 고딕"/>
                <a:cs typeface="맑은 고딕"/>
              </a:rPr>
              <a:t>불가</a:t>
            </a:r>
            <a:r>
              <a:rPr sz="1250" b="1" dirty="0">
                <a:solidFill>
                  <a:srgbClr val="0B6E96"/>
                </a:solidFill>
                <a:latin typeface="맑은 고딕"/>
                <a:ea typeface="맑은 고딕"/>
                <a:cs typeface="맑은 고딕"/>
              </a:rPr>
              <a:t> 24곳이 </a:t>
            </a:r>
            <a:r>
              <a:rPr sz="1250" b="1" dirty="0" err="1">
                <a:solidFill>
                  <a:srgbClr val="0B6E96"/>
                </a:solidFill>
                <a:latin typeface="맑은 고딕"/>
                <a:ea typeface="맑은 고딕"/>
                <a:cs typeface="맑은 고딕"/>
              </a:rPr>
              <a:t>특정되어</a:t>
            </a:r>
            <a:r>
              <a:rPr sz="1250" b="1" dirty="0">
                <a:solidFill>
                  <a:srgbClr val="0B6E96"/>
                </a:solidFill>
                <a:latin typeface="맑은 고딕"/>
                <a:ea typeface="맑은 고딕"/>
                <a:cs typeface="맑은 고딕"/>
              </a:rPr>
              <a:t>, </a:t>
            </a:r>
            <a:r>
              <a:rPr sz="1250" b="1" dirty="0" err="1">
                <a:solidFill>
                  <a:srgbClr val="0B6E96"/>
                </a:solidFill>
                <a:latin typeface="맑은 고딕"/>
                <a:ea typeface="맑은 고딕"/>
                <a:cs typeface="맑은 고딕"/>
              </a:rPr>
              <a:t>갈</a:t>
            </a:r>
            <a:r>
              <a:rPr sz="1250" b="1" dirty="0">
                <a:solidFill>
                  <a:srgbClr val="0B6E96"/>
                </a:solidFill>
                <a:latin typeface="맑은 고딕"/>
                <a:ea typeface="맑은 고딕"/>
                <a:cs typeface="맑은 고딕"/>
              </a:rPr>
              <a:t> </a:t>
            </a:r>
            <a:r>
              <a:rPr sz="1250" b="1" dirty="0" err="1">
                <a:solidFill>
                  <a:srgbClr val="0B6E96"/>
                </a:solidFill>
                <a:latin typeface="맑은 고딕"/>
                <a:ea typeface="맑은 고딕"/>
                <a:cs typeface="맑은 고딕"/>
              </a:rPr>
              <a:t>수</a:t>
            </a:r>
            <a:r>
              <a:rPr sz="1250" b="1" dirty="0">
                <a:solidFill>
                  <a:srgbClr val="0B6E96"/>
                </a:solidFill>
                <a:latin typeface="맑은 고딕"/>
                <a:ea typeface="맑은 고딕"/>
                <a:cs typeface="맑은 고딕"/>
              </a:rPr>
              <a:t> </a:t>
            </a:r>
            <a:r>
              <a:rPr sz="1250" b="1" dirty="0" err="1">
                <a:solidFill>
                  <a:srgbClr val="0B6E96"/>
                </a:solidFill>
                <a:latin typeface="맑은 고딕"/>
                <a:ea typeface="맑은 고딕"/>
                <a:cs typeface="맑은 고딕"/>
              </a:rPr>
              <a:t>있는</a:t>
            </a:r>
            <a:r>
              <a:rPr sz="1250" b="1" dirty="0">
                <a:solidFill>
                  <a:srgbClr val="0B6E96"/>
                </a:solidFill>
                <a:latin typeface="맑은 고딕"/>
                <a:ea typeface="맑은 고딕"/>
                <a:cs typeface="맑은 고딕"/>
              </a:rPr>
              <a:t> </a:t>
            </a:r>
            <a:r>
              <a:rPr sz="1250" b="1" dirty="0" err="1">
                <a:solidFill>
                  <a:srgbClr val="0B6E96"/>
                </a:solidFill>
                <a:latin typeface="맑은 고딕"/>
                <a:ea typeface="맑은 고딕"/>
                <a:cs typeface="맑은 고딕"/>
              </a:rPr>
              <a:t>곳부터</a:t>
            </a:r>
            <a:r>
              <a:rPr sz="1250" b="1" dirty="0">
                <a:solidFill>
                  <a:srgbClr val="0B6E96"/>
                </a:solidFill>
                <a:latin typeface="맑은 고딕"/>
                <a:ea typeface="맑은 고딕"/>
                <a:cs typeface="맑은 고딕"/>
              </a:rPr>
              <a:t> </a:t>
            </a:r>
            <a:r>
              <a:rPr sz="1250" b="1" dirty="0" err="1">
                <a:solidFill>
                  <a:srgbClr val="0B6E96"/>
                </a:solidFill>
                <a:latin typeface="맑은 고딕"/>
                <a:ea typeface="맑은 고딕"/>
                <a:cs typeface="맑은 고딕"/>
              </a:rPr>
              <a:t>순서를</a:t>
            </a:r>
            <a:r>
              <a:rPr sz="1250" b="1" dirty="0">
                <a:solidFill>
                  <a:srgbClr val="0B6E96"/>
                </a:solidFill>
                <a:latin typeface="맑은 고딕"/>
                <a:ea typeface="맑은 고딕"/>
                <a:cs typeface="맑은 고딕"/>
              </a:rPr>
              <a:t> </a:t>
            </a:r>
            <a:r>
              <a:rPr sz="1250" b="1" dirty="0" err="1">
                <a:solidFill>
                  <a:srgbClr val="0B6E96"/>
                </a:solidFill>
                <a:latin typeface="맑은 고딕"/>
                <a:ea typeface="맑은 고딕"/>
                <a:cs typeface="맑은 고딕"/>
              </a:rPr>
              <a:t>정할</a:t>
            </a:r>
            <a:r>
              <a:rPr sz="1250" b="1" dirty="0">
                <a:solidFill>
                  <a:srgbClr val="0B6E96"/>
                </a:solidFill>
                <a:latin typeface="맑은 고딕"/>
                <a:ea typeface="맑은 고딕"/>
                <a:cs typeface="맑은 고딕"/>
              </a:rPr>
              <a:t> </a:t>
            </a:r>
            <a:r>
              <a:rPr sz="1250" b="1" dirty="0" err="1">
                <a:solidFill>
                  <a:srgbClr val="0B6E96"/>
                </a:solidFill>
                <a:latin typeface="맑은 고딕"/>
                <a:ea typeface="맑은 고딕"/>
                <a:cs typeface="맑은 고딕"/>
              </a:rPr>
              <a:t>수</a:t>
            </a:r>
            <a:r>
              <a:rPr sz="1250" b="1" dirty="0">
                <a:solidFill>
                  <a:srgbClr val="0B6E96"/>
                </a:solidFill>
                <a:latin typeface="맑은 고딕"/>
                <a:ea typeface="맑은 고딕"/>
                <a:cs typeface="맑은 고딕"/>
              </a:rPr>
              <a:t> </a:t>
            </a:r>
            <a:r>
              <a:rPr sz="1250" b="1" dirty="0" err="1">
                <a:solidFill>
                  <a:srgbClr val="0B6E96"/>
                </a:solidFill>
                <a:latin typeface="맑은 고딕"/>
                <a:ea typeface="맑은 고딕"/>
                <a:cs typeface="맑은 고딕"/>
              </a:rPr>
              <a:t>있습니다</a:t>
            </a:r>
            <a:r>
              <a:rPr sz="1250" b="1" dirty="0">
                <a:solidFill>
                  <a:srgbClr val="0B6E96"/>
                </a:solidFill>
                <a:latin typeface="맑은 고딕"/>
                <a:ea typeface="맑은 고딕"/>
                <a:cs typeface="맑은 고딕"/>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57200"/>
            <a:ext cx="11155680" cy="713232"/>
          </a:xfrm>
          <a:prstGeom prst="rect">
            <a:avLst/>
          </a:prstGeom>
          <a:noFill/>
        </p:spPr>
        <p:txBody>
          <a:bodyPr wrap="square" lIns="0" tIns="0">
            <a:spAutoFit/>
          </a:bodyPr>
          <a:lstStyle/>
          <a:p>
            <a:r>
              <a:rPr sz="2500" b="1">
                <a:solidFill>
                  <a:srgbClr val="0E2841"/>
                </a:solidFill>
                <a:latin typeface="HY헤드라인M"/>
                <a:ea typeface="HY헤드라인M"/>
                <a:cs typeface="HY헤드라인M"/>
              </a:rPr>
              <a:t>03. 검증과 결과 - 439곳 분해와 우선순위 출동 목록</a:t>
            </a:r>
          </a:p>
          <a:p>
            <a:pPr algn="l">
              <a:spcBef>
                <a:spcPts val="250"/>
              </a:spcBef>
            </a:pPr>
            <a:r>
              <a:rPr sz="1400" b="0">
                <a:solidFill>
                  <a:srgbClr val="33414E"/>
                </a:solidFill>
                <a:latin typeface="맑은 고딕"/>
                <a:ea typeface="맑은 고딕"/>
                <a:cs typeface="맑은 고딕"/>
              </a:rPr>
              <a:t>439곳 중 167곳이 구조 필요 — 우회 경로로 구조대 노출을 72% 낮췄습니다.</a:t>
            </a:r>
          </a:p>
        </p:txBody>
      </p:sp>
      <p:graphicFrame>
        <p:nvGraphicFramePr>
          <p:cNvPr id="3" name="Table 2"/>
          <p:cNvGraphicFramePr>
            <a:graphicFrameLocks noGrp="1"/>
          </p:cNvGraphicFramePr>
          <p:nvPr/>
        </p:nvGraphicFramePr>
        <p:xfrm>
          <a:off x="5100000" y="1720000"/>
          <a:ext cx="6586031" cy="2537460"/>
        </p:xfrm>
        <a:graphic>
          <a:graphicData uri="http://schemas.openxmlformats.org/drawingml/2006/table">
            <a:tbl>
              <a:tblPr>
                <a:tableStyleId>{5C22544A-7EE6-4342-B048-85BDC9FD1C3A}</a:tableStyleId>
              </a:tblPr>
              <a:tblGrid>
                <a:gridCol w="60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gridCol w="1400000">
                  <a:extLst>
                    <a:ext uri="{9D8B030D-6E8A-4147-A177-3AD203B41FA5}">
                      <a16:colId xmlns:a16="http://schemas.microsoft.com/office/drawing/2014/main" val="20003"/>
                    </a:ext>
                  </a:extLst>
                </a:gridCol>
                <a:gridCol w="1686031">
                  <a:extLst>
                    <a:ext uri="{9D8B030D-6E8A-4147-A177-3AD203B41FA5}">
                      <a16:colId xmlns:a16="http://schemas.microsoft.com/office/drawing/2014/main" val="20004"/>
                    </a:ext>
                  </a:extLst>
                </a:gridCol>
              </a:tblGrid>
              <a:tr h="422910">
                <a:tc>
                  <a:txBody>
                    <a:bodyPr/>
                    <a:lstStyle/>
                    <a:p>
                      <a:pPr algn="ctr"/>
                      <a:r>
                        <a:rPr sz="1300" b="1">
                          <a:solidFill>
                            <a:srgbClr val="FFFFFF"/>
                          </a:solidFill>
                          <a:latin typeface="맑은 고딕"/>
                          <a:ea typeface="맑은 고딕"/>
                          <a:cs typeface="맑은 고딕"/>
                        </a:rPr>
                        <a:t>순위</a:t>
                      </a:r>
                    </a:p>
                  </a:txBody>
                  <a:tcPr marL="50800" marR="50800" marT="38100" marB="38100" anchor="ctr">
                    <a:solidFill>
                      <a:srgbClr val="0E2841"/>
                    </a:solidFill>
                  </a:tcPr>
                </a:tc>
                <a:tc>
                  <a:txBody>
                    <a:bodyPr/>
                    <a:lstStyle/>
                    <a:p>
                      <a:pPr algn="ctr"/>
                      <a:r>
                        <a:rPr sz="1300" b="1">
                          <a:solidFill>
                            <a:srgbClr val="FFFFFF"/>
                          </a:solidFill>
                          <a:latin typeface="맑은 고딕"/>
                          <a:ea typeface="맑은 고딕"/>
                          <a:cs typeface="맑은 고딕"/>
                        </a:rPr>
                        <a:t>구조대 ETA(분)</a:t>
                      </a:r>
                    </a:p>
                  </a:txBody>
                  <a:tcPr marL="50800" marR="50800" marT="38100" marB="38100" anchor="ctr">
                    <a:solidFill>
                      <a:srgbClr val="0E2841"/>
                    </a:solidFill>
                  </a:tcPr>
                </a:tc>
                <a:tc>
                  <a:txBody>
                    <a:bodyPr/>
                    <a:lstStyle/>
                    <a:p>
                      <a:pPr algn="ctr"/>
                      <a:r>
                        <a:rPr sz="1300" b="1">
                          <a:solidFill>
                            <a:srgbClr val="FFFFFF"/>
                          </a:solidFill>
                          <a:latin typeface="맑은 고딕"/>
                          <a:ea typeface="맑은 고딕"/>
                          <a:cs typeface="맑은 고딕"/>
                        </a:rPr>
                        <a:t>최단경로 노출</a:t>
                      </a:r>
                    </a:p>
                  </a:txBody>
                  <a:tcPr marL="50800" marR="50800" marT="38100" marB="38100" anchor="ctr">
                    <a:solidFill>
                      <a:srgbClr val="0E2841"/>
                    </a:solidFill>
                  </a:tcPr>
                </a:tc>
                <a:tc>
                  <a:txBody>
                    <a:bodyPr/>
                    <a:lstStyle/>
                    <a:p>
                      <a:pPr algn="ctr"/>
                      <a:r>
                        <a:rPr sz="1300" b="1">
                          <a:solidFill>
                            <a:srgbClr val="FFFFFF"/>
                          </a:solidFill>
                          <a:latin typeface="맑은 고딕"/>
                          <a:ea typeface="맑은 고딕"/>
                          <a:cs typeface="맑은 고딕"/>
                        </a:rPr>
                        <a:t>생존인지 노출</a:t>
                      </a:r>
                    </a:p>
                  </a:txBody>
                  <a:tcPr marL="50800" marR="50800" marT="38100" marB="38100" anchor="ctr">
                    <a:solidFill>
                      <a:srgbClr val="0E2841"/>
                    </a:solidFill>
                  </a:tcPr>
                </a:tc>
                <a:tc>
                  <a:txBody>
                    <a:bodyPr/>
                    <a:lstStyle/>
                    <a:p>
                      <a:pPr algn="ctr"/>
                      <a:r>
                        <a:rPr sz="1300" b="1">
                          <a:solidFill>
                            <a:srgbClr val="FFFFFF"/>
                          </a:solidFill>
                          <a:latin typeface="맑은 고딕"/>
                          <a:ea typeface="맑은 고딕"/>
                          <a:cs typeface="맑은 고딕"/>
                        </a:rPr>
                        <a:t>최단경로 화재 진입</a:t>
                      </a:r>
                    </a:p>
                  </a:txBody>
                  <a:tcPr marL="50800" marR="50800" marT="38100" marB="38100" anchor="ctr">
                    <a:solidFill>
                      <a:srgbClr val="0E2841"/>
                    </a:solidFill>
                  </a:tcPr>
                </a:tc>
                <a:extLst>
                  <a:ext uri="{0D108BD9-81ED-4DB2-BD59-A6C34878D82A}">
                    <a16:rowId xmlns:a16="http://schemas.microsoft.com/office/drawing/2014/main" val="10000"/>
                  </a:ext>
                </a:extLst>
              </a:tr>
              <a:tr h="422910">
                <a:tc>
                  <a:txBody>
                    <a:bodyPr/>
                    <a:lstStyle/>
                    <a:p>
                      <a:pPr algn="ctr"/>
                      <a:r>
                        <a:rPr sz="1300" b="1">
                          <a:solidFill>
                            <a:srgbClr val="0E2841"/>
                          </a:solidFill>
                          <a:latin typeface="맑은 고딕"/>
                          <a:ea typeface="맑은 고딕"/>
                          <a:cs typeface="맑은 고딕"/>
                        </a:rPr>
                        <a:t>1</a:t>
                      </a:r>
                    </a:p>
                  </a:txBody>
                  <a:tcPr marL="50800" marR="50800" marT="38100" marB="38100" anchor="ctr">
                    <a:solidFill>
                      <a:srgbClr val="FFFFFF"/>
                    </a:solidFill>
                  </a:tcPr>
                </a:tc>
                <a:tc>
                  <a:txBody>
                    <a:bodyPr/>
                    <a:lstStyle/>
                    <a:p>
                      <a:pPr algn="ctr"/>
                      <a:r>
                        <a:rPr sz="1300" b="0">
                          <a:solidFill>
                            <a:srgbClr val="2A3845"/>
                          </a:solidFill>
                          <a:latin typeface="맑은 고딕"/>
                          <a:ea typeface="맑은 고딕"/>
                          <a:cs typeface="맑은 고딕"/>
                        </a:rPr>
                        <a:t>77</a:t>
                      </a:r>
                    </a:p>
                  </a:txBody>
                  <a:tcPr marL="50800" marR="50800" marT="38100" marB="38100" anchor="ctr">
                    <a:solidFill>
                      <a:srgbClr val="FFFFFF"/>
                    </a:solidFill>
                  </a:tcPr>
                </a:tc>
                <a:tc>
                  <a:txBody>
                    <a:bodyPr/>
                    <a:lstStyle/>
                    <a:p>
                      <a:pPr algn="ctr"/>
                      <a:r>
                        <a:rPr sz="1300" b="0">
                          <a:solidFill>
                            <a:srgbClr val="2A3845"/>
                          </a:solidFill>
                          <a:latin typeface="맑은 고딕"/>
                          <a:ea typeface="맑은 고딕"/>
                          <a:cs typeface="맑은 고딕"/>
                        </a:rPr>
                        <a:t>15.47</a:t>
                      </a:r>
                    </a:p>
                  </a:txBody>
                  <a:tcPr marL="50800" marR="50800" marT="38100" marB="38100" anchor="ctr">
                    <a:solidFill>
                      <a:srgbClr val="FFFFFF"/>
                    </a:solidFill>
                  </a:tcPr>
                </a:tc>
                <a:tc>
                  <a:txBody>
                    <a:bodyPr/>
                    <a:lstStyle/>
                    <a:p>
                      <a:pPr algn="ctr"/>
                      <a:r>
                        <a:rPr sz="1300" b="1">
                          <a:solidFill>
                            <a:srgbClr val="0B6E96"/>
                          </a:solidFill>
                          <a:latin typeface="맑은 고딕"/>
                          <a:ea typeface="맑은 고딕"/>
                          <a:cs typeface="맑은 고딕"/>
                        </a:rPr>
                        <a:t>0.59</a:t>
                      </a:r>
                    </a:p>
                  </a:txBody>
                  <a:tcPr marL="50800" marR="50800" marT="38100" marB="38100" anchor="ctr">
                    <a:solidFill>
                      <a:srgbClr val="FFFFFF"/>
                    </a:solidFill>
                  </a:tcPr>
                </a:tc>
                <a:tc>
                  <a:txBody>
                    <a:bodyPr/>
                    <a:lstStyle/>
                    <a:p>
                      <a:pPr algn="ctr"/>
                      <a:r>
                        <a:rPr sz="1300" b="0">
                          <a:solidFill>
                            <a:srgbClr val="B0470E"/>
                          </a:solidFill>
                          <a:latin typeface="맑은 고딕"/>
                          <a:ea typeface="맑은 고딕"/>
                          <a:cs typeface="맑은 고딕"/>
                        </a:rPr>
                        <a:t>예</a:t>
                      </a:r>
                    </a:p>
                  </a:txBody>
                  <a:tcPr marL="50800" marR="50800" marT="38100" marB="38100" anchor="ctr">
                    <a:solidFill>
                      <a:srgbClr val="FFFFFF"/>
                    </a:solidFill>
                  </a:tcPr>
                </a:tc>
                <a:extLst>
                  <a:ext uri="{0D108BD9-81ED-4DB2-BD59-A6C34878D82A}">
                    <a16:rowId xmlns:a16="http://schemas.microsoft.com/office/drawing/2014/main" val="10001"/>
                  </a:ext>
                </a:extLst>
              </a:tr>
              <a:tr h="422910">
                <a:tc>
                  <a:txBody>
                    <a:bodyPr/>
                    <a:lstStyle/>
                    <a:p>
                      <a:pPr algn="ctr"/>
                      <a:r>
                        <a:rPr sz="1300" b="1">
                          <a:solidFill>
                            <a:srgbClr val="0E2841"/>
                          </a:solidFill>
                          <a:latin typeface="맑은 고딕"/>
                          <a:ea typeface="맑은 고딕"/>
                          <a:cs typeface="맑은 고딕"/>
                        </a:rPr>
                        <a:t>2</a:t>
                      </a:r>
                    </a:p>
                  </a:txBody>
                  <a:tcPr marL="50800" marR="50800" marT="38100" marB="38100" anchor="ctr">
                    <a:solidFill>
                      <a:srgbClr val="F4F7FA"/>
                    </a:solidFill>
                  </a:tcPr>
                </a:tc>
                <a:tc>
                  <a:txBody>
                    <a:bodyPr/>
                    <a:lstStyle/>
                    <a:p>
                      <a:pPr algn="ctr"/>
                      <a:r>
                        <a:rPr sz="1300" b="0">
                          <a:solidFill>
                            <a:srgbClr val="2A3845"/>
                          </a:solidFill>
                          <a:latin typeface="맑은 고딕"/>
                          <a:ea typeface="맑은 고딕"/>
                          <a:cs typeface="맑은 고딕"/>
                        </a:rPr>
                        <a:t>76</a:t>
                      </a:r>
                    </a:p>
                  </a:txBody>
                  <a:tcPr marL="50800" marR="50800" marT="38100" marB="38100" anchor="ctr">
                    <a:solidFill>
                      <a:srgbClr val="F4F7FA"/>
                    </a:solidFill>
                  </a:tcPr>
                </a:tc>
                <a:tc>
                  <a:txBody>
                    <a:bodyPr/>
                    <a:lstStyle/>
                    <a:p>
                      <a:pPr algn="ctr"/>
                      <a:r>
                        <a:rPr sz="1300" b="0">
                          <a:solidFill>
                            <a:srgbClr val="2A3845"/>
                          </a:solidFill>
                          <a:latin typeface="맑은 고딕"/>
                          <a:ea typeface="맑은 고딕"/>
                          <a:cs typeface="맑은 고딕"/>
                        </a:rPr>
                        <a:t>15.32</a:t>
                      </a:r>
                    </a:p>
                  </a:txBody>
                  <a:tcPr marL="50800" marR="50800" marT="38100" marB="38100" anchor="ctr">
                    <a:solidFill>
                      <a:srgbClr val="F4F7FA"/>
                    </a:solidFill>
                  </a:tcPr>
                </a:tc>
                <a:tc>
                  <a:txBody>
                    <a:bodyPr/>
                    <a:lstStyle/>
                    <a:p>
                      <a:pPr algn="ctr"/>
                      <a:r>
                        <a:rPr sz="1300" b="1">
                          <a:solidFill>
                            <a:srgbClr val="0B6E96"/>
                          </a:solidFill>
                          <a:latin typeface="맑은 고딕"/>
                          <a:ea typeface="맑은 고딕"/>
                          <a:cs typeface="맑은 고딕"/>
                        </a:rPr>
                        <a:t>1.20</a:t>
                      </a:r>
                    </a:p>
                  </a:txBody>
                  <a:tcPr marL="50800" marR="50800" marT="38100" marB="38100" anchor="ctr">
                    <a:solidFill>
                      <a:srgbClr val="F4F7FA"/>
                    </a:solidFill>
                  </a:tcPr>
                </a:tc>
                <a:tc>
                  <a:txBody>
                    <a:bodyPr/>
                    <a:lstStyle/>
                    <a:p>
                      <a:pPr algn="ctr"/>
                      <a:r>
                        <a:rPr sz="1300" b="0">
                          <a:solidFill>
                            <a:srgbClr val="B0470E"/>
                          </a:solidFill>
                          <a:latin typeface="맑은 고딕"/>
                          <a:ea typeface="맑은 고딕"/>
                          <a:cs typeface="맑은 고딕"/>
                        </a:rPr>
                        <a:t>예</a:t>
                      </a:r>
                    </a:p>
                  </a:txBody>
                  <a:tcPr marL="50800" marR="50800" marT="38100" marB="38100" anchor="ctr">
                    <a:solidFill>
                      <a:srgbClr val="F4F7FA"/>
                    </a:solidFill>
                  </a:tcPr>
                </a:tc>
                <a:extLst>
                  <a:ext uri="{0D108BD9-81ED-4DB2-BD59-A6C34878D82A}">
                    <a16:rowId xmlns:a16="http://schemas.microsoft.com/office/drawing/2014/main" val="10002"/>
                  </a:ext>
                </a:extLst>
              </a:tr>
              <a:tr h="422910">
                <a:tc>
                  <a:txBody>
                    <a:bodyPr/>
                    <a:lstStyle/>
                    <a:p>
                      <a:pPr algn="ctr"/>
                      <a:r>
                        <a:rPr sz="1300" b="1">
                          <a:solidFill>
                            <a:srgbClr val="0E2841"/>
                          </a:solidFill>
                          <a:latin typeface="맑은 고딕"/>
                          <a:ea typeface="맑은 고딕"/>
                          <a:cs typeface="맑은 고딕"/>
                        </a:rPr>
                        <a:t>3</a:t>
                      </a:r>
                    </a:p>
                  </a:txBody>
                  <a:tcPr marL="50800" marR="50800" marT="38100" marB="38100" anchor="ctr">
                    <a:solidFill>
                      <a:srgbClr val="FBEFE6"/>
                    </a:solidFill>
                  </a:tcPr>
                </a:tc>
                <a:tc>
                  <a:txBody>
                    <a:bodyPr/>
                    <a:lstStyle/>
                    <a:p>
                      <a:pPr algn="ctr"/>
                      <a:r>
                        <a:rPr sz="1300" b="0">
                          <a:solidFill>
                            <a:srgbClr val="2A3845"/>
                          </a:solidFill>
                          <a:latin typeface="맑은 고딕"/>
                          <a:ea typeface="맑은 고딕"/>
                          <a:cs typeface="맑은 고딕"/>
                        </a:rPr>
                        <a:t>76</a:t>
                      </a:r>
                    </a:p>
                  </a:txBody>
                  <a:tcPr marL="50800" marR="50800" marT="38100" marB="38100" anchor="ctr">
                    <a:solidFill>
                      <a:srgbClr val="FBEFE6"/>
                    </a:solidFill>
                  </a:tcPr>
                </a:tc>
                <a:tc>
                  <a:txBody>
                    <a:bodyPr/>
                    <a:lstStyle/>
                    <a:p>
                      <a:pPr algn="ctr"/>
                      <a:r>
                        <a:rPr sz="1300" b="0">
                          <a:solidFill>
                            <a:srgbClr val="2A3845"/>
                          </a:solidFill>
                          <a:latin typeface="맑은 고딕"/>
                          <a:ea typeface="맑은 고딕"/>
                          <a:cs typeface="맑은 고딕"/>
                        </a:rPr>
                        <a:t>13.13</a:t>
                      </a:r>
                    </a:p>
                  </a:txBody>
                  <a:tcPr marL="50800" marR="50800" marT="38100" marB="38100" anchor="ctr">
                    <a:solidFill>
                      <a:srgbClr val="FBEFE6"/>
                    </a:solidFill>
                  </a:tcPr>
                </a:tc>
                <a:tc>
                  <a:txBody>
                    <a:bodyPr/>
                    <a:lstStyle/>
                    <a:p>
                      <a:pPr algn="ctr"/>
                      <a:r>
                        <a:rPr sz="1300" b="1">
                          <a:solidFill>
                            <a:srgbClr val="B0470E"/>
                          </a:solidFill>
                          <a:latin typeface="맑은 고딕"/>
                          <a:ea typeface="맑은 고딕"/>
                          <a:cs typeface="맑은 고딕"/>
                        </a:rPr>
                        <a:t>13.44</a:t>
                      </a:r>
                    </a:p>
                  </a:txBody>
                  <a:tcPr marL="50800" marR="50800" marT="38100" marB="38100" anchor="ctr">
                    <a:solidFill>
                      <a:srgbClr val="FBEFE6"/>
                    </a:solidFill>
                  </a:tcPr>
                </a:tc>
                <a:tc>
                  <a:txBody>
                    <a:bodyPr/>
                    <a:lstStyle/>
                    <a:p>
                      <a:pPr algn="ctr"/>
                      <a:r>
                        <a:rPr sz="1300" b="0">
                          <a:solidFill>
                            <a:srgbClr val="B0470E"/>
                          </a:solidFill>
                          <a:latin typeface="맑은 고딕"/>
                          <a:ea typeface="맑은 고딕"/>
                          <a:cs typeface="맑은 고딕"/>
                        </a:rPr>
                        <a:t>예</a:t>
                      </a:r>
                    </a:p>
                  </a:txBody>
                  <a:tcPr marL="50800" marR="50800" marT="38100" marB="38100" anchor="ctr">
                    <a:solidFill>
                      <a:srgbClr val="FBEFE6"/>
                    </a:solidFill>
                  </a:tcPr>
                </a:tc>
                <a:extLst>
                  <a:ext uri="{0D108BD9-81ED-4DB2-BD59-A6C34878D82A}">
                    <a16:rowId xmlns:a16="http://schemas.microsoft.com/office/drawing/2014/main" val="10003"/>
                  </a:ext>
                </a:extLst>
              </a:tr>
              <a:tr h="422910">
                <a:tc>
                  <a:txBody>
                    <a:bodyPr/>
                    <a:lstStyle/>
                    <a:p>
                      <a:pPr algn="ctr"/>
                      <a:r>
                        <a:rPr sz="1300" b="1">
                          <a:solidFill>
                            <a:srgbClr val="0E2841"/>
                          </a:solidFill>
                          <a:latin typeface="맑은 고딕"/>
                          <a:ea typeface="맑은 고딕"/>
                          <a:cs typeface="맑은 고딕"/>
                        </a:rPr>
                        <a:t>4</a:t>
                      </a:r>
                    </a:p>
                  </a:txBody>
                  <a:tcPr marL="50800" marR="50800" marT="38100" marB="38100" anchor="ctr">
                    <a:solidFill>
                      <a:srgbClr val="F4F7FA"/>
                    </a:solidFill>
                  </a:tcPr>
                </a:tc>
                <a:tc>
                  <a:txBody>
                    <a:bodyPr/>
                    <a:lstStyle/>
                    <a:p>
                      <a:pPr algn="ctr"/>
                      <a:r>
                        <a:rPr sz="1300" b="0">
                          <a:solidFill>
                            <a:srgbClr val="2A3845"/>
                          </a:solidFill>
                          <a:latin typeface="맑은 고딕"/>
                          <a:ea typeface="맑은 고딕"/>
                          <a:cs typeface="맑은 고딕"/>
                        </a:rPr>
                        <a:t>73</a:t>
                      </a:r>
                    </a:p>
                  </a:txBody>
                  <a:tcPr marL="50800" marR="50800" marT="38100" marB="38100" anchor="ctr">
                    <a:solidFill>
                      <a:srgbClr val="F4F7FA"/>
                    </a:solidFill>
                  </a:tcPr>
                </a:tc>
                <a:tc>
                  <a:txBody>
                    <a:bodyPr/>
                    <a:lstStyle/>
                    <a:p>
                      <a:pPr algn="ctr"/>
                      <a:r>
                        <a:rPr sz="1300" b="0">
                          <a:solidFill>
                            <a:srgbClr val="2A3845"/>
                          </a:solidFill>
                          <a:latin typeface="맑은 고딕"/>
                          <a:ea typeface="맑은 고딕"/>
                          <a:cs typeface="맑은 고딕"/>
                        </a:rPr>
                        <a:t>15.24</a:t>
                      </a:r>
                    </a:p>
                  </a:txBody>
                  <a:tcPr marL="50800" marR="50800" marT="38100" marB="38100" anchor="ctr">
                    <a:solidFill>
                      <a:srgbClr val="F4F7FA"/>
                    </a:solidFill>
                  </a:tcPr>
                </a:tc>
                <a:tc>
                  <a:txBody>
                    <a:bodyPr/>
                    <a:lstStyle/>
                    <a:p>
                      <a:pPr algn="ctr"/>
                      <a:r>
                        <a:rPr sz="1300" b="1">
                          <a:solidFill>
                            <a:srgbClr val="0B6E96"/>
                          </a:solidFill>
                          <a:latin typeface="맑은 고딕"/>
                          <a:ea typeface="맑은 고딕"/>
                          <a:cs typeface="맑은 고딕"/>
                        </a:rPr>
                        <a:t>1.10</a:t>
                      </a:r>
                    </a:p>
                  </a:txBody>
                  <a:tcPr marL="50800" marR="50800" marT="38100" marB="38100" anchor="ctr">
                    <a:solidFill>
                      <a:srgbClr val="F4F7FA"/>
                    </a:solidFill>
                  </a:tcPr>
                </a:tc>
                <a:tc>
                  <a:txBody>
                    <a:bodyPr/>
                    <a:lstStyle/>
                    <a:p>
                      <a:pPr algn="ctr"/>
                      <a:r>
                        <a:rPr sz="1300" b="0">
                          <a:solidFill>
                            <a:srgbClr val="B0470E"/>
                          </a:solidFill>
                          <a:latin typeface="맑은 고딕"/>
                          <a:ea typeface="맑은 고딕"/>
                          <a:cs typeface="맑은 고딕"/>
                        </a:rPr>
                        <a:t>예</a:t>
                      </a:r>
                    </a:p>
                  </a:txBody>
                  <a:tcPr marL="50800" marR="50800" marT="38100" marB="38100" anchor="ctr">
                    <a:solidFill>
                      <a:srgbClr val="F4F7FA"/>
                    </a:solidFill>
                  </a:tcPr>
                </a:tc>
                <a:extLst>
                  <a:ext uri="{0D108BD9-81ED-4DB2-BD59-A6C34878D82A}">
                    <a16:rowId xmlns:a16="http://schemas.microsoft.com/office/drawing/2014/main" val="10004"/>
                  </a:ext>
                </a:extLst>
              </a:tr>
              <a:tr h="422910">
                <a:tc>
                  <a:txBody>
                    <a:bodyPr/>
                    <a:lstStyle/>
                    <a:p>
                      <a:pPr algn="ctr"/>
                      <a:r>
                        <a:rPr sz="1300" b="1">
                          <a:solidFill>
                            <a:srgbClr val="0E2841"/>
                          </a:solidFill>
                          <a:latin typeface="맑은 고딕"/>
                          <a:ea typeface="맑은 고딕"/>
                          <a:cs typeface="맑은 고딕"/>
                        </a:rPr>
                        <a:t>5</a:t>
                      </a:r>
                    </a:p>
                  </a:txBody>
                  <a:tcPr marL="50800" marR="50800" marT="38100" marB="38100" anchor="ctr">
                    <a:solidFill>
                      <a:srgbClr val="FFFFFF"/>
                    </a:solidFill>
                  </a:tcPr>
                </a:tc>
                <a:tc>
                  <a:txBody>
                    <a:bodyPr/>
                    <a:lstStyle/>
                    <a:p>
                      <a:pPr algn="ctr"/>
                      <a:r>
                        <a:rPr sz="1300" b="0">
                          <a:solidFill>
                            <a:srgbClr val="2A3845"/>
                          </a:solidFill>
                          <a:latin typeface="맑은 고딕"/>
                          <a:ea typeface="맑은 고딕"/>
                          <a:cs typeface="맑은 고딕"/>
                        </a:rPr>
                        <a:t>73</a:t>
                      </a:r>
                    </a:p>
                  </a:txBody>
                  <a:tcPr marL="50800" marR="50800" marT="38100" marB="38100" anchor="ctr">
                    <a:solidFill>
                      <a:srgbClr val="FFFFFF"/>
                    </a:solidFill>
                  </a:tcPr>
                </a:tc>
                <a:tc>
                  <a:txBody>
                    <a:bodyPr/>
                    <a:lstStyle/>
                    <a:p>
                      <a:pPr algn="ctr"/>
                      <a:r>
                        <a:rPr sz="1300" b="0">
                          <a:solidFill>
                            <a:srgbClr val="2A3845"/>
                          </a:solidFill>
                          <a:latin typeface="맑은 고딕"/>
                          <a:ea typeface="맑은 고딕"/>
                          <a:cs typeface="맑은 고딕"/>
                        </a:rPr>
                        <a:t>15.24</a:t>
                      </a:r>
                    </a:p>
                  </a:txBody>
                  <a:tcPr marL="50800" marR="50800" marT="38100" marB="38100" anchor="ctr">
                    <a:solidFill>
                      <a:srgbClr val="FFFFFF"/>
                    </a:solidFill>
                  </a:tcPr>
                </a:tc>
                <a:tc>
                  <a:txBody>
                    <a:bodyPr/>
                    <a:lstStyle/>
                    <a:p>
                      <a:pPr algn="ctr"/>
                      <a:r>
                        <a:rPr sz="1300" b="1">
                          <a:solidFill>
                            <a:srgbClr val="0B6E96"/>
                          </a:solidFill>
                          <a:latin typeface="맑은 고딕"/>
                          <a:ea typeface="맑은 고딕"/>
                          <a:cs typeface="맑은 고딕"/>
                        </a:rPr>
                        <a:t>1.10</a:t>
                      </a:r>
                    </a:p>
                  </a:txBody>
                  <a:tcPr marL="50800" marR="50800" marT="38100" marB="38100" anchor="ctr">
                    <a:solidFill>
                      <a:srgbClr val="FFFFFF"/>
                    </a:solidFill>
                  </a:tcPr>
                </a:tc>
                <a:tc>
                  <a:txBody>
                    <a:bodyPr/>
                    <a:lstStyle/>
                    <a:p>
                      <a:pPr algn="ctr"/>
                      <a:r>
                        <a:rPr sz="1300" b="0">
                          <a:solidFill>
                            <a:srgbClr val="B0470E"/>
                          </a:solidFill>
                          <a:latin typeface="맑은 고딕"/>
                          <a:ea typeface="맑은 고딕"/>
                          <a:cs typeface="맑은 고딕"/>
                        </a:rPr>
                        <a:t>예</a:t>
                      </a:r>
                    </a:p>
                  </a:txBody>
                  <a:tcPr marL="50800" marR="50800" marT="38100" marB="38100" anchor="ctr">
                    <a:solidFill>
                      <a:srgbClr val="FFFFFF"/>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5100000" y="4400000"/>
            <a:ext cx="6586031" cy="1500000"/>
          </a:xfrm>
          <a:prstGeom prst="rect">
            <a:avLst/>
          </a:prstGeom>
          <a:noFill/>
        </p:spPr>
        <p:txBody>
          <a:bodyPr wrap="square" lIns="25400" tIns="25400" rIns="25400" bIns="25400" anchor="t">
            <a:spAutoFit/>
          </a:bodyPr>
          <a:lstStyle/>
          <a:p>
            <a:pPr algn="l">
              <a:lnSpc>
                <a:spcPct val="130000"/>
              </a:lnSpc>
              <a:spcBef>
                <a:spcPts val="0"/>
              </a:spcBef>
              <a:spcAft>
                <a:spcPts val="400"/>
              </a:spcAft>
            </a:pPr>
            <a:r>
              <a:rPr sz="1050" b="1" dirty="0" err="1">
                <a:solidFill>
                  <a:srgbClr val="0E2841"/>
                </a:solidFill>
                <a:latin typeface="맑은 고딕"/>
                <a:ea typeface="맑은 고딕"/>
                <a:cs typeface="맑은 고딕"/>
              </a:rPr>
              <a:t>순위는</a:t>
            </a:r>
            <a:r>
              <a:rPr sz="1050" b="1" dirty="0">
                <a:solidFill>
                  <a:srgbClr val="0E2841"/>
                </a:solidFill>
                <a:latin typeface="맑은 고딕"/>
                <a:ea typeface="맑은 고딕"/>
                <a:cs typeface="맑은 고딕"/>
              </a:rPr>
              <a:t> </a:t>
            </a:r>
            <a:r>
              <a:rPr sz="1050" b="1" dirty="0" err="1">
                <a:solidFill>
                  <a:srgbClr val="0E2841"/>
                </a:solidFill>
                <a:latin typeface="맑은 고딕"/>
                <a:ea typeface="맑은 고딕"/>
                <a:cs typeface="맑은 고딕"/>
              </a:rPr>
              <a:t>진입로가</a:t>
            </a:r>
            <a:r>
              <a:rPr sz="1050" b="1" dirty="0">
                <a:solidFill>
                  <a:srgbClr val="0E2841"/>
                </a:solidFill>
                <a:latin typeface="맑은 고딕"/>
                <a:ea typeface="맑은 고딕"/>
                <a:cs typeface="맑은 고딕"/>
              </a:rPr>
              <a:t> </a:t>
            </a:r>
            <a:r>
              <a:rPr sz="1050" b="1" dirty="0" err="1">
                <a:solidFill>
                  <a:srgbClr val="0E2841"/>
                </a:solidFill>
                <a:latin typeface="맑은 고딕"/>
                <a:ea typeface="맑은 고딕"/>
                <a:cs typeface="맑은 고딕"/>
              </a:rPr>
              <a:t>닫히기까지</a:t>
            </a:r>
            <a:r>
              <a:rPr sz="1050" b="1" dirty="0">
                <a:solidFill>
                  <a:srgbClr val="0E2841"/>
                </a:solidFill>
                <a:latin typeface="맑은 고딕"/>
                <a:ea typeface="맑은 고딕"/>
                <a:cs typeface="맑은 고딕"/>
              </a:rPr>
              <a:t> </a:t>
            </a:r>
            <a:r>
              <a:rPr sz="1050" b="1" dirty="0" err="1">
                <a:solidFill>
                  <a:srgbClr val="0E2841"/>
                </a:solidFill>
                <a:latin typeface="맑은 고딕"/>
                <a:ea typeface="맑은 고딕"/>
                <a:cs typeface="맑은 고딕"/>
              </a:rPr>
              <a:t>남은</a:t>
            </a:r>
            <a:r>
              <a:rPr sz="1050" b="1" dirty="0">
                <a:solidFill>
                  <a:srgbClr val="0E2841"/>
                </a:solidFill>
                <a:latin typeface="맑은 고딕"/>
                <a:ea typeface="맑은 고딕"/>
                <a:cs typeface="맑은 고딕"/>
              </a:rPr>
              <a:t> </a:t>
            </a:r>
            <a:r>
              <a:rPr sz="1050" b="1" dirty="0" err="1">
                <a:solidFill>
                  <a:srgbClr val="0E2841"/>
                </a:solidFill>
                <a:latin typeface="맑은 고딕"/>
                <a:ea typeface="맑은 고딕"/>
                <a:cs typeface="맑은 고딕"/>
              </a:rPr>
              <a:t>시간이</a:t>
            </a:r>
            <a:r>
              <a:rPr sz="1050" b="1" dirty="0">
                <a:solidFill>
                  <a:srgbClr val="0E2841"/>
                </a:solidFill>
                <a:latin typeface="맑은 고딕"/>
                <a:ea typeface="맑은 고딕"/>
                <a:cs typeface="맑은 고딕"/>
              </a:rPr>
              <a:t> </a:t>
            </a:r>
            <a:r>
              <a:rPr sz="1050" b="1" dirty="0" err="1">
                <a:solidFill>
                  <a:srgbClr val="0E2841"/>
                </a:solidFill>
                <a:latin typeface="맑은 고딕"/>
                <a:ea typeface="맑은 고딕"/>
                <a:cs typeface="맑은 고딕"/>
              </a:rPr>
              <a:t>적은</a:t>
            </a:r>
            <a:r>
              <a:rPr sz="1050" b="1" dirty="0">
                <a:solidFill>
                  <a:srgbClr val="0E2841"/>
                </a:solidFill>
                <a:latin typeface="맑은 고딕"/>
                <a:ea typeface="맑은 고딕"/>
                <a:cs typeface="맑은 고딕"/>
              </a:rPr>
              <a:t> </a:t>
            </a:r>
            <a:r>
              <a:rPr sz="1050" b="1" dirty="0" err="1">
                <a:solidFill>
                  <a:srgbClr val="0E2841"/>
                </a:solidFill>
                <a:latin typeface="맑은 고딕"/>
                <a:ea typeface="맑은 고딕"/>
                <a:cs typeface="맑은 고딕"/>
              </a:rPr>
              <a:t>곳부터입니다</a:t>
            </a:r>
            <a:r>
              <a:rPr sz="1050" b="1" dirty="0">
                <a:solidFill>
                  <a:srgbClr val="0E2841"/>
                </a:solidFill>
                <a:latin typeface="맑은 고딕"/>
                <a:ea typeface="맑은 고딕"/>
                <a:cs typeface="맑은 고딕"/>
              </a:rPr>
              <a:t>. </a:t>
            </a:r>
            <a:r>
              <a:rPr sz="1050" b="0" dirty="0" err="1">
                <a:solidFill>
                  <a:srgbClr val="2A3845"/>
                </a:solidFill>
                <a:latin typeface="맑은 고딕"/>
                <a:ea typeface="맑은 고딕"/>
                <a:cs typeface="맑은 고딕"/>
              </a:rPr>
              <a:t>이번</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사례는</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상위</a:t>
            </a:r>
            <a:r>
              <a:rPr sz="1050" b="0" dirty="0">
                <a:solidFill>
                  <a:srgbClr val="2A3845"/>
                </a:solidFill>
                <a:latin typeface="맑은 고딕"/>
                <a:ea typeface="맑은 고딕"/>
                <a:cs typeface="맑은 고딕"/>
              </a:rPr>
              <a:t> 20건 </a:t>
            </a:r>
            <a:r>
              <a:rPr sz="1050" b="0" dirty="0" err="1">
                <a:solidFill>
                  <a:srgbClr val="2A3845"/>
                </a:solidFill>
                <a:latin typeface="맑은 고딕"/>
                <a:ea typeface="맑은 고딕"/>
                <a:cs typeface="맑은 고딕"/>
              </a:rPr>
              <a:t>모두</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직행로가</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처음부터</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막혀</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있어</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결과적으로</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도착이</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늦은</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순서가</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되었습니다</a:t>
            </a:r>
            <a:r>
              <a:rPr sz="1050" b="0" dirty="0">
                <a:solidFill>
                  <a:srgbClr val="2A3845"/>
                </a:solidFill>
                <a:latin typeface="맑은 고딕"/>
                <a:ea typeface="맑은 고딕"/>
                <a:cs typeface="맑은 고딕"/>
              </a:rPr>
              <a:t>. 3위는 </a:t>
            </a:r>
            <a:r>
              <a:rPr sz="1050" b="0" dirty="0" err="1">
                <a:solidFill>
                  <a:srgbClr val="2A3845"/>
                </a:solidFill>
                <a:latin typeface="맑은 고딕"/>
                <a:ea typeface="맑은 고딕"/>
                <a:cs typeface="맑은 고딕"/>
              </a:rPr>
              <a:t>우회해도</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위험이</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줄지</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않아</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그대로</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실었습니다. 4·5위는 서로 다른 출발지이며 값이 같습니다</a:t>
            </a:r>
            <a:r>
              <a:rPr sz="1050" b="0" dirty="0">
                <a:solidFill>
                  <a:srgbClr val="2A3845"/>
                </a:solidFill>
                <a:latin typeface="맑은 고딕"/>
                <a:ea typeface="맑은 고딕"/>
                <a:cs typeface="맑은 고딕"/>
              </a:rPr>
              <a:t>.</a:t>
            </a:r>
          </a:p>
        </p:txBody>
      </p:sp>
      <p:sp>
        <p:nvSpPr>
          <p:cNvPr id="21" name="Rounded Rectangle 3"/>
          <p:cNvSpPr/>
          <p:nvPr/>
        </p:nvSpPr>
        <p:spPr>
          <a:xfrm>
            <a:off x="502920" y="1720000"/>
            <a:ext cx="4300000" cy="3900000"/>
          </a:xfrm>
          <a:prstGeom prst="roundRect">
            <a:avLst>
              <a:gd name="adj" fmla="val 8000"/>
            </a:avLst>
          </a:prstGeom>
          <a:solidFill>
            <a:srgbClr val="F2F5F8"/>
          </a:solidFill>
          <a:ln w="1524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4"/>
          <p:cNvSpPr txBox="1"/>
          <p:nvPr/>
        </p:nvSpPr>
        <p:spPr>
          <a:xfrm>
            <a:off x="700000" y="1880000"/>
            <a:ext cx="3950000" cy="2803524"/>
          </a:xfrm>
          <a:prstGeom prst="rect">
            <a:avLst/>
          </a:prstGeom>
          <a:noFill/>
        </p:spPr>
        <p:txBody>
          <a:bodyPr wrap="square" lIns="25400" tIns="25400" rIns="25400" bIns="25400" anchor="t">
            <a:spAutoFit/>
          </a:bodyPr>
          <a:lstStyle/>
          <a:p>
            <a:pPr algn="l">
              <a:spcBef>
                <a:spcPts val="0"/>
              </a:spcBef>
              <a:spcAft>
                <a:spcPts val="1200"/>
              </a:spcAft>
            </a:pPr>
            <a:r>
              <a:rPr sz="1900" b="1" dirty="0">
                <a:solidFill>
                  <a:srgbClr val="0E2841"/>
                </a:solidFill>
                <a:latin typeface="HY헤드라인M"/>
                <a:ea typeface="HY헤드라인M"/>
                <a:cs typeface="HY헤드라인M"/>
              </a:rPr>
              <a:t>439곳 </a:t>
            </a:r>
            <a:r>
              <a:rPr sz="1900" b="1" dirty="0" err="1">
                <a:solidFill>
                  <a:srgbClr val="0E2841"/>
                </a:solidFill>
                <a:latin typeface="HY헤드라인M"/>
                <a:ea typeface="HY헤드라인M"/>
                <a:cs typeface="HY헤드라인M"/>
              </a:rPr>
              <a:t>전체</a:t>
            </a:r>
            <a:r>
              <a:rPr sz="1900" b="1" dirty="0">
                <a:solidFill>
                  <a:srgbClr val="0E2841"/>
                </a:solidFill>
                <a:latin typeface="HY헤드라인M"/>
                <a:ea typeface="HY헤드라인M"/>
                <a:cs typeface="HY헤드라인M"/>
              </a:rPr>
              <a:t> </a:t>
            </a:r>
            <a:r>
              <a:rPr sz="1900" b="1" dirty="0" err="1">
                <a:solidFill>
                  <a:srgbClr val="0E2841"/>
                </a:solidFill>
                <a:latin typeface="HY헤드라인M"/>
                <a:ea typeface="HY헤드라인M"/>
                <a:cs typeface="HY헤드라인M"/>
              </a:rPr>
              <a:t>분해</a:t>
            </a:r>
            <a:endParaRPr sz="1900" b="1" dirty="0">
              <a:solidFill>
                <a:srgbClr val="0E2841"/>
              </a:solidFill>
              <a:latin typeface="HY헤드라인M"/>
              <a:ea typeface="HY헤드라인M"/>
              <a:cs typeface="HY헤드라인M"/>
            </a:endParaRPr>
          </a:p>
          <a:p>
            <a:pPr algn="l">
              <a:spcBef>
                <a:spcPts val="0"/>
              </a:spcBef>
              <a:spcAft>
                <a:spcPts val="200"/>
              </a:spcAft>
            </a:pPr>
            <a:r>
              <a:rPr sz="1550" b="1" dirty="0" err="1">
                <a:solidFill>
                  <a:srgbClr val="196B24"/>
                </a:solidFill>
                <a:latin typeface="맑은 고딕"/>
                <a:ea typeface="맑은 고딕"/>
                <a:cs typeface="맑은 고딕"/>
              </a:rPr>
              <a:t>자력</a:t>
            </a:r>
            <a:r>
              <a:rPr sz="1550" b="1" dirty="0">
                <a:solidFill>
                  <a:srgbClr val="196B24"/>
                </a:solidFill>
                <a:latin typeface="맑은 고딕"/>
                <a:ea typeface="맑은 고딕"/>
                <a:cs typeface="맑은 고딕"/>
              </a:rPr>
              <a:t> </a:t>
            </a:r>
            <a:r>
              <a:rPr sz="1550" b="1" dirty="0" err="1">
                <a:solidFill>
                  <a:srgbClr val="196B24"/>
                </a:solidFill>
                <a:latin typeface="맑은 고딕"/>
                <a:ea typeface="맑은 고딕"/>
                <a:cs typeface="맑은 고딕"/>
              </a:rPr>
              <a:t>대피</a:t>
            </a:r>
            <a:r>
              <a:rPr sz="1550" b="1" dirty="0">
                <a:solidFill>
                  <a:srgbClr val="196B24"/>
                </a:solidFill>
                <a:latin typeface="맑은 고딕"/>
                <a:ea typeface="맑은 고딕"/>
                <a:cs typeface="맑은 고딕"/>
              </a:rPr>
              <a:t> 272</a:t>
            </a:r>
          </a:p>
          <a:p>
            <a:pPr algn="l">
              <a:spcBef>
                <a:spcPts val="0"/>
              </a:spcBef>
              <a:spcAft>
                <a:spcPts val="1100"/>
              </a:spcAft>
            </a:pPr>
            <a:r>
              <a:rPr sz="1250" b="0" dirty="0" err="1">
                <a:solidFill>
                  <a:srgbClr val="6B7A88"/>
                </a:solidFill>
                <a:latin typeface="맑은 고딕"/>
                <a:ea typeface="맑은 고딕"/>
                <a:cs typeface="맑은 고딕"/>
              </a:rPr>
              <a:t>직접</a:t>
            </a:r>
            <a:r>
              <a:rPr sz="1250" b="0" dirty="0">
                <a:solidFill>
                  <a:srgbClr val="6B7A88"/>
                </a:solidFill>
                <a:latin typeface="맑은 고딕"/>
                <a:ea typeface="맑은 고딕"/>
                <a:cs typeface="맑은 고딕"/>
              </a:rPr>
              <a:t> 262 + </a:t>
            </a:r>
            <a:r>
              <a:rPr sz="1250" b="0" dirty="0" err="1">
                <a:solidFill>
                  <a:srgbClr val="6B7A88"/>
                </a:solidFill>
                <a:latin typeface="맑은 고딕"/>
                <a:ea typeface="맑은 고딕"/>
                <a:cs typeface="맑은 고딕"/>
              </a:rPr>
              <a:t>대피소</a:t>
            </a:r>
            <a:r>
              <a:rPr sz="1250" b="0" dirty="0">
                <a:solidFill>
                  <a:srgbClr val="6B7A88"/>
                </a:solidFill>
                <a:latin typeface="맑은 고딕"/>
                <a:ea typeface="맑은 고딕"/>
                <a:cs typeface="맑은 고딕"/>
              </a:rPr>
              <a:t> </a:t>
            </a:r>
            <a:r>
              <a:rPr sz="1250" b="0" dirty="0" err="1">
                <a:solidFill>
                  <a:srgbClr val="6B7A88"/>
                </a:solidFill>
                <a:latin typeface="맑은 고딕"/>
                <a:ea typeface="맑은 고딕"/>
                <a:cs typeface="맑은 고딕"/>
              </a:rPr>
              <a:t>경유</a:t>
            </a:r>
            <a:r>
              <a:rPr sz="1250" b="0" dirty="0">
                <a:solidFill>
                  <a:srgbClr val="6B7A88"/>
                </a:solidFill>
                <a:latin typeface="맑은 고딕"/>
                <a:ea typeface="맑은 고딕"/>
                <a:cs typeface="맑은 고딕"/>
              </a:rPr>
              <a:t> 10</a:t>
            </a:r>
          </a:p>
          <a:p>
            <a:pPr algn="l">
              <a:spcBef>
                <a:spcPts val="0"/>
              </a:spcBef>
              <a:spcAft>
                <a:spcPts val="200"/>
              </a:spcAft>
            </a:pPr>
            <a:r>
              <a:rPr sz="1550" b="1" dirty="0" err="1">
                <a:solidFill>
                  <a:srgbClr val="B0470E"/>
                </a:solidFill>
                <a:latin typeface="맑은 고딕"/>
                <a:ea typeface="맑은 고딕"/>
                <a:cs typeface="맑은 고딕"/>
              </a:rPr>
              <a:t>구조</a:t>
            </a:r>
            <a:r>
              <a:rPr sz="1550" b="1" dirty="0">
                <a:solidFill>
                  <a:srgbClr val="B0470E"/>
                </a:solidFill>
                <a:latin typeface="맑은 고딕"/>
                <a:ea typeface="맑은 고딕"/>
                <a:cs typeface="맑은 고딕"/>
              </a:rPr>
              <a:t> </a:t>
            </a:r>
            <a:r>
              <a:rPr sz="1550" b="1" dirty="0" err="1">
                <a:solidFill>
                  <a:srgbClr val="B0470E"/>
                </a:solidFill>
                <a:latin typeface="맑은 고딕"/>
                <a:ea typeface="맑은 고딕"/>
                <a:cs typeface="맑은 고딕"/>
              </a:rPr>
              <a:t>필요</a:t>
            </a:r>
            <a:r>
              <a:rPr sz="1550" b="1" dirty="0">
                <a:solidFill>
                  <a:srgbClr val="B0470E"/>
                </a:solidFill>
                <a:latin typeface="맑은 고딕"/>
                <a:ea typeface="맑은 고딕"/>
                <a:cs typeface="맑은 고딕"/>
              </a:rPr>
              <a:t> 167 (38.0%)</a:t>
            </a:r>
          </a:p>
          <a:p>
            <a:pPr algn="l">
              <a:spcBef>
                <a:spcPts val="0"/>
              </a:spcBef>
              <a:spcAft>
                <a:spcPts val="1300"/>
              </a:spcAft>
            </a:pPr>
            <a:r>
              <a:rPr sz="1250" b="0" dirty="0" err="1">
                <a:solidFill>
                  <a:srgbClr val="6B7A88"/>
                </a:solidFill>
                <a:latin typeface="맑은 고딕"/>
                <a:ea typeface="맑은 고딕"/>
                <a:cs typeface="맑은 고딕"/>
              </a:rPr>
              <a:t>도달</a:t>
            </a:r>
            <a:r>
              <a:rPr sz="1250" b="0" dirty="0">
                <a:solidFill>
                  <a:srgbClr val="6B7A88"/>
                </a:solidFill>
                <a:latin typeface="맑은 고딕"/>
                <a:ea typeface="맑은 고딕"/>
                <a:cs typeface="맑은 고딕"/>
              </a:rPr>
              <a:t> </a:t>
            </a:r>
            <a:r>
              <a:rPr sz="1250" b="0" dirty="0" err="1">
                <a:solidFill>
                  <a:srgbClr val="6B7A88"/>
                </a:solidFill>
                <a:latin typeface="맑은 고딕"/>
                <a:ea typeface="맑은 고딕"/>
                <a:cs typeface="맑은 고딕"/>
              </a:rPr>
              <a:t>가능</a:t>
            </a:r>
            <a:r>
              <a:rPr sz="1250" b="0" dirty="0">
                <a:solidFill>
                  <a:srgbClr val="6B7A88"/>
                </a:solidFill>
                <a:latin typeface="맑은 고딕"/>
                <a:ea typeface="맑은 고딕"/>
                <a:cs typeface="맑은 고딕"/>
              </a:rPr>
              <a:t> 143 + </a:t>
            </a:r>
            <a:r>
              <a:rPr sz="1250" b="0" dirty="0" err="1">
                <a:solidFill>
                  <a:srgbClr val="6B7A88"/>
                </a:solidFill>
                <a:latin typeface="맑은 고딕"/>
                <a:ea typeface="맑은 고딕"/>
                <a:cs typeface="맑은 고딕"/>
              </a:rPr>
              <a:t>불가</a:t>
            </a:r>
            <a:r>
              <a:rPr sz="1250" b="0" dirty="0">
                <a:solidFill>
                  <a:srgbClr val="6B7A88"/>
                </a:solidFill>
                <a:latin typeface="맑은 고딕"/>
                <a:ea typeface="맑은 고딕"/>
                <a:cs typeface="맑은 고딕"/>
              </a:rPr>
              <a:t> 24</a:t>
            </a:r>
          </a:p>
          <a:p>
            <a:pPr algn="l">
              <a:lnSpc>
                <a:spcPct val="120000"/>
              </a:lnSpc>
              <a:spcBef>
                <a:spcPts val="0"/>
              </a:spcBef>
              <a:spcAft>
                <a:spcPts val="150"/>
              </a:spcAft>
            </a:pPr>
            <a:r>
              <a:rPr sz="1050" b="0" dirty="0" err="1">
                <a:solidFill>
                  <a:srgbClr val="2A3845"/>
                </a:solidFill>
                <a:latin typeface="맑은 고딕"/>
                <a:ea typeface="맑은 고딕"/>
                <a:cs typeface="맑은 고딕"/>
              </a:rPr>
              <a:t>구조대</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경로</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노출</a:t>
            </a:r>
            <a:r>
              <a:rPr sz="1450" b="1" dirty="0">
                <a:solidFill>
                  <a:srgbClr val="0B6E96"/>
                </a:solidFill>
                <a:latin typeface="맑은 고딕"/>
                <a:ea typeface="맑은 고딕"/>
                <a:cs typeface="맑은 고딕"/>
              </a:rPr>
              <a:t>  6.12 → 1.71, </a:t>
            </a:r>
            <a:r>
              <a:rPr sz="1450" b="1" dirty="0" err="1">
                <a:solidFill>
                  <a:srgbClr val="0B6E96"/>
                </a:solidFill>
                <a:latin typeface="맑은 고딕"/>
                <a:ea typeface="맑은 고딕"/>
                <a:cs typeface="맑은 고딕"/>
              </a:rPr>
              <a:t>약</a:t>
            </a:r>
            <a:r>
              <a:rPr sz="1450" b="1" dirty="0">
                <a:solidFill>
                  <a:srgbClr val="0B6E96"/>
                </a:solidFill>
                <a:latin typeface="맑은 고딕"/>
                <a:ea typeface="맑은 고딕"/>
                <a:cs typeface="맑은 고딕"/>
              </a:rPr>
              <a:t> 72% </a:t>
            </a:r>
            <a:r>
              <a:rPr sz="1450" b="1" dirty="0" err="1">
                <a:solidFill>
                  <a:srgbClr val="0B6E96"/>
                </a:solidFill>
                <a:latin typeface="맑은 고딕"/>
                <a:ea typeface="맑은 고딕"/>
                <a:cs typeface="맑은 고딕"/>
              </a:rPr>
              <a:t>감소</a:t>
            </a:r>
            <a:endParaRPr sz="1450" b="1" dirty="0">
              <a:solidFill>
                <a:srgbClr val="0B6E96"/>
              </a:solidFill>
              <a:latin typeface="맑은 고딕"/>
              <a:ea typeface="맑은 고딕"/>
              <a:cs typeface="맑은 고딕"/>
            </a:endParaRPr>
          </a:p>
          <a:p>
            <a:pPr algn="l">
              <a:lnSpc>
                <a:spcPct val="120000"/>
              </a:lnSpc>
              <a:spcBef>
                <a:spcPts val="0"/>
              </a:spcBef>
              <a:spcAft>
                <a:spcPts val="0"/>
              </a:spcAft>
            </a:pPr>
            <a:r>
              <a:rPr sz="1050" b="0" dirty="0" err="1">
                <a:solidFill>
                  <a:srgbClr val="2A3845"/>
                </a:solidFill>
                <a:latin typeface="맑은 고딕"/>
                <a:ea typeface="맑은 고딕"/>
                <a:cs typeface="맑은 고딕"/>
              </a:rPr>
              <a:t>최단경로</a:t>
            </a:r>
            <a:r>
              <a:rPr sz="1050" b="0" dirty="0">
                <a:solidFill>
                  <a:srgbClr val="2A3845"/>
                </a:solidFill>
                <a:latin typeface="맑은 고딕"/>
                <a:ea typeface="맑은 고딕"/>
                <a:cs typeface="맑은 고딕"/>
              </a:rPr>
              <a:t> 143건 </a:t>
            </a:r>
            <a:r>
              <a:rPr sz="1050" b="0" dirty="0" err="1">
                <a:solidFill>
                  <a:srgbClr val="2A3845"/>
                </a:solidFill>
                <a:latin typeface="맑은 고딕"/>
                <a:ea typeface="맑은 고딕"/>
                <a:cs typeface="맑은 고딕"/>
              </a:rPr>
              <a:t>중</a:t>
            </a:r>
            <a:r>
              <a:rPr sz="1050" b="0" dirty="0">
                <a:solidFill>
                  <a:srgbClr val="2A3845"/>
                </a:solidFill>
                <a:latin typeface="맑은 고딕"/>
                <a:ea typeface="맑은 고딕"/>
                <a:cs typeface="맑은 고딕"/>
              </a:rPr>
              <a:t> </a:t>
            </a:r>
            <a:r>
              <a:rPr sz="1450" b="1" dirty="0">
                <a:solidFill>
                  <a:srgbClr val="B0470E"/>
                </a:solidFill>
                <a:latin typeface="맑은 고딕"/>
                <a:ea typeface="맑은 고딕"/>
                <a:cs typeface="맑은 고딕"/>
              </a:rPr>
              <a:t>57건</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화재</a:t>
            </a:r>
            <a:r>
              <a:rPr sz="1050" b="0" dirty="0">
                <a:solidFill>
                  <a:srgbClr val="2A3845"/>
                </a:solidFill>
                <a:latin typeface="맑은 고딕"/>
                <a:ea typeface="맑은 고딕"/>
                <a:cs typeface="맑은 고딕"/>
              </a:rPr>
              <a:t> </a:t>
            </a:r>
            <a:r>
              <a:rPr sz="1050" b="0" dirty="0" err="1">
                <a:solidFill>
                  <a:srgbClr val="2A3845"/>
                </a:solidFill>
                <a:latin typeface="맑은 고딕"/>
                <a:ea typeface="맑은 고딕"/>
                <a:cs typeface="맑은 고딕"/>
              </a:rPr>
              <a:t>통과</a:t>
            </a:r>
            <a:endParaRPr sz="1050" b="0" dirty="0">
              <a:solidFill>
                <a:srgbClr val="2A3845"/>
              </a:solidFill>
              <a:latin typeface="맑은 고딕"/>
              <a:ea typeface="맑은 고딕"/>
              <a:cs typeface="맑은 고딕"/>
            </a:endParaRPr>
          </a:p>
          <a:p>
            <a:pPr algn="l">
              <a:lnSpc>
                <a:spcPct val="120000"/>
              </a:lnSpc>
              <a:spcBef>
                <a:spcPts val="800"/>
              </a:spcBef>
              <a:spcAft>
                <a:spcPts val="0"/>
              </a:spcAft>
            </a:pPr>
            <a:r>
              <a:rPr sz="1200" b="1" dirty="0" err="1">
                <a:solidFill>
                  <a:srgbClr val="0B6E96"/>
                </a:solidFill>
                <a:latin typeface="맑은 고딕"/>
                <a:ea typeface="맑은 고딕"/>
                <a:cs typeface="맑은 고딕"/>
              </a:rPr>
              <a:t>최단경로로</a:t>
            </a:r>
            <a:r>
              <a:rPr sz="1200" b="1" dirty="0">
                <a:solidFill>
                  <a:srgbClr val="0B6E96"/>
                </a:solidFill>
                <a:latin typeface="맑은 고딕"/>
                <a:ea typeface="맑은 고딕"/>
                <a:cs typeface="맑은 고딕"/>
              </a:rPr>
              <a:t> </a:t>
            </a:r>
            <a:r>
              <a:rPr sz="1200" b="1" dirty="0" err="1">
                <a:solidFill>
                  <a:srgbClr val="0B6E96"/>
                </a:solidFill>
                <a:latin typeface="맑은 고딕"/>
                <a:ea typeface="맑은 고딕"/>
                <a:cs typeface="맑은 고딕"/>
              </a:rPr>
              <a:t>가면</a:t>
            </a:r>
            <a:r>
              <a:rPr sz="1200" b="1" dirty="0">
                <a:solidFill>
                  <a:srgbClr val="0B6E96"/>
                </a:solidFill>
                <a:latin typeface="맑은 고딕"/>
                <a:ea typeface="맑은 고딕"/>
                <a:cs typeface="맑은 고딕"/>
              </a:rPr>
              <a:t> </a:t>
            </a:r>
            <a:r>
              <a:rPr sz="1200" b="1" dirty="0" err="1">
                <a:solidFill>
                  <a:srgbClr val="0B6E96"/>
                </a:solidFill>
                <a:latin typeface="맑은 고딕"/>
                <a:ea typeface="맑은 고딕"/>
                <a:cs typeface="맑은 고딕"/>
              </a:rPr>
              <a:t>불을</a:t>
            </a:r>
            <a:r>
              <a:rPr sz="1200" b="1" dirty="0">
                <a:solidFill>
                  <a:srgbClr val="0B6E96"/>
                </a:solidFill>
                <a:latin typeface="맑은 고딕"/>
                <a:ea typeface="맑은 고딕"/>
                <a:cs typeface="맑은 고딕"/>
              </a:rPr>
              <a:t> </a:t>
            </a:r>
            <a:r>
              <a:rPr sz="1200" b="1" dirty="0" err="1">
                <a:solidFill>
                  <a:srgbClr val="0B6E96"/>
                </a:solidFill>
                <a:latin typeface="맑은 고딕"/>
                <a:ea typeface="맑은 고딕"/>
                <a:cs typeface="맑은 고딕"/>
              </a:rPr>
              <a:t>지나는</a:t>
            </a:r>
            <a:r>
              <a:rPr sz="1200" b="1" dirty="0">
                <a:solidFill>
                  <a:srgbClr val="0B6E96"/>
                </a:solidFill>
                <a:latin typeface="맑은 고딕"/>
                <a:ea typeface="맑은 고딕"/>
                <a:cs typeface="맑은 고딕"/>
              </a:rPr>
              <a:t> 57건을 </a:t>
            </a:r>
            <a:r>
              <a:rPr sz="1200" b="1" dirty="0" err="1">
                <a:solidFill>
                  <a:srgbClr val="0B6E96"/>
                </a:solidFill>
                <a:latin typeface="맑은 고딕"/>
                <a:ea typeface="맑은 고딕"/>
                <a:cs typeface="맑은 고딕"/>
              </a:rPr>
              <a:t>우회로</a:t>
            </a:r>
            <a:r>
              <a:rPr sz="1200" b="1" dirty="0">
                <a:solidFill>
                  <a:srgbClr val="0B6E96"/>
                </a:solidFill>
                <a:latin typeface="맑은 고딕"/>
                <a:ea typeface="맑은 고딕"/>
                <a:cs typeface="맑은 고딕"/>
              </a:rPr>
              <a:t> </a:t>
            </a:r>
            <a:r>
              <a:rPr sz="1200" b="1" dirty="0" err="1">
                <a:solidFill>
                  <a:srgbClr val="0B6E96"/>
                </a:solidFill>
                <a:latin typeface="맑은 고딕"/>
                <a:ea typeface="맑은 고딕"/>
                <a:cs typeface="맑은 고딕"/>
              </a:rPr>
              <a:t>돌려</a:t>
            </a:r>
            <a:r>
              <a:rPr sz="1200" b="1" dirty="0">
                <a:solidFill>
                  <a:srgbClr val="0B6E96"/>
                </a:solidFill>
                <a:latin typeface="맑은 고딕"/>
                <a:ea typeface="맑은 고딕"/>
                <a:cs typeface="맑은 고딕"/>
              </a:rPr>
              <a:t>, </a:t>
            </a:r>
            <a:r>
              <a:rPr sz="1200" b="1" dirty="0" err="1">
                <a:solidFill>
                  <a:srgbClr val="0B6E96"/>
                </a:solidFill>
                <a:latin typeface="맑은 고딕"/>
                <a:ea typeface="맑은 고딕"/>
                <a:cs typeface="맑은 고딕"/>
              </a:rPr>
              <a:t>구조대의</a:t>
            </a:r>
            <a:r>
              <a:rPr sz="1200" b="1" dirty="0">
                <a:solidFill>
                  <a:srgbClr val="0B6E96"/>
                </a:solidFill>
                <a:latin typeface="맑은 고딕"/>
                <a:ea typeface="맑은 고딕"/>
                <a:cs typeface="맑은 고딕"/>
              </a:rPr>
              <a:t> </a:t>
            </a:r>
            <a:r>
              <a:rPr sz="1200" b="1" dirty="0" err="1">
                <a:solidFill>
                  <a:srgbClr val="0B6E96"/>
                </a:solidFill>
                <a:latin typeface="맑은 고딕"/>
                <a:ea typeface="맑은 고딕"/>
                <a:cs typeface="맑은 고딕"/>
              </a:rPr>
              <a:t>평균</a:t>
            </a:r>
            <a:r>
              <a:rPr sz="1200" b="1" dirty="0">
                <a:solidFill>
                  <a:srgbClr val="0B6E96"/>
                </a:solidFill>
                <a:latin typeface="맑은 고딕"/>
                <a:ea typeface="맑은 고딕"/>
                <a:cs typeface="맑은 고딕"/>
              </a:rPr>
              <a:t> </a:t>
            </a:r>
            <a:r>
              <a:rPr sz="1200" b="1" dirty="0" err="1">
                <a:solidFill>
                  <a:srgbClr val="0B6E96"/>
                </a:solidFill>
                <a:latin typeface="맑은 고딕"/>
                <a:ea typeface="맑은 고딕"/>
                <a:cs typeface="맑은 고딕"/>
              </a:rPr>
              <a:t>노출을</a:t>
            </a:r>
            <a:r>
              <a:rPr sz="1200" b="1" dirty="0">
                <a:solidFill>
                  <a:srgbClr val="0B6E96"/>
                </a:solidFill>
                <a:latin typeface="맑은 고딕"/>
                <a:ea typeface="맑은 고딕"/>
                <a:cs typeface="맑은 고딕"/>
              </a:rPr>
              <a:t> </a:t>
            </a:r>
            <a:r>
              <a:rPr sz="1200" b="1" dirty="0" err="1">
                <a:solidFill>
                  <a:srgbClr val="0B6E96"/>
                </a:solidFill>
                <a:latin typeface="맑은 고딕"/>
                <a:ea typeface="맑은 고딕"/>
                <a:cs typeface="맑은 고딕"/>
              </a:rPr>
              <a:t>약</a:t>
            </a:r>
            <a:r>
              <a:rPr sz="1200" b="1" dirty="0">
                <a:solidFill>
                  <a:srgbClr val="0B6E96"/>
                </a:solidFill>
                <a:latin typeface="맑은 고딕"/>
                <a:ea typeface="맑은 고딕"/>
                <a:cs typeface="맑은 고딕"/>
              </a:rPr>
              <a:t> 72% </a:t>
            </a:r>
            <a:r>
              <a:rPr sz="1200" b="1" dirty="0" err="1">
                <a:solidFill>
                  <a:srgbClr val="0B6E96"/>
                </a:solidFill>
                <a:latin typeface="맑은 고딕"/>
                <a:ea typeface="맑은 고딕"/>
                <a:cs typeface="맑은 고딕"/>
              </a:rPr>
              <a:t>낮춥니다</a:t>
            </a:r>
            <a:r>
              <a:rPr sz="1200" b="1" dirty="0">
                <a:solidFill>
                  <a:srgbClr val="0B6E96"/>
                </a:solidFill>
                <a:latin typeface="맑은 고딕"/>
                <a:ea typeface="맑은 고딕"/>
                <a:cs typeface="맑은 고딕"/>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57200"/>
            <a:ext cx="11155680" cy="713232"/>
          </a:xfrm>
          <a:prstGeom prst="rect">
            <a:avLst/>
          </a:prstGeom>
          <a:noFill/>
        </p:spPr>
        <p:txBody>
          <a:bodyPr wrap="square" lIns="0" tIns="0">
            <a:spAutoFit/>
          </a:bodyPr>
          <a:lstStyle/>
          <a:p>
            <a:r>
              <a:rPr sz="2500" b="1">
                <a:solidFill>
                  <a:srgbClr val="0E2841"/>
                </a:solidFill>
                <a:latin typeface="HY헤드라인M"/>
                <a:ea typeface="HY헤드라인M"/>
                <a:cs typeface="HY헤드라인M"/>
              </a:rPr>
              <a:t>04. 한계와 향후</a:t>
            </a:r>
          </a:p>
        </p:txBody>
      </p:sp>
      <p:sp>
        <p:nvSpPr>
          <p:cNvPr id="3" name="Rounded Rectangle 2"/>
          <p:cNvSpPr/>
          <p:nvPr/>
        </p:nvSpPr>
        <p:spPr>
          <a:xfrm>
            <a:off x="502920" y="1900000"/>
            <a:ext cx="5440680" cy="2900000"/>
          </a:xfrm>
          <a:prstGeom prst="roundRect">
            <a:avLst>
              <a:gd name="adj" fmla="val 8000"/>
            </a:avLst>
          </a:prstGeom>
          <a:solidFill>
            <a:srgbClr val="FBEFE6"/>
          </a:solidFill>
          <a:ln w="20320">
            <a:solidFill>
              <a:srgbClr val="B047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57240" y="2128600"/>
            <a:ext cx="4257760" cy="548640"/>
          </a:xfrm>
          <a:prstGeom prst="rect">
            <a:avLst/>
          </a:prstGeom>
          <a:noFill/>
        </p:spPr>
        <p:txBody>
          <a:bodyPr wrap="square" lIns="25400" tIns="25400" rIns="25400" bIns="25400" anchor="t">
            <a:spAutoFit/>
          </a:bodyPr>
          <a:lstStyle/>
          <a:p>
            <a:pPr marL="228600" indent="-228600" algn="l">
              <a:spcBef>
                <a:spcPts val="0"/>
              </a:spcBef>
              <a:spcAft>
                <a:spcPts val="400"/>
              </a:spcAft>
            </a:pPr>
            <a:r>
              <a:rPr sz="1900" b="1">
                <a:solidFill>
                  <a:srgbClr val="B0470E"/>
                </a:solidFill>
                <a:latin typeface="HY헤드라인M"/>
                <a:ea typeface="HY헤드라인M"/>
                <a:cs typeface="HY헤드라인M"/>
              </a:rPr>
              <a:t>한계</a:t>
            </a:r>
          </a:p>
        </p:txBody>
      </p:sp>
      <p:sp>
        <p:nvSpPr>
          <p:cNvPr id="5" name="TextBox 4"/>
          <p:cNvSpPr txBox="1"/>
          <p:nvPr/>
        </p:nvSpPr>
        <p:spPr>
          <a:xfrm>
            <a:off x="777240" y="2768680"/>
            <a:ext cx="4956048" cy="662169"/>
          </a:xfrm>
          <a:prstGeom prst="rect">
            <a:avLst/>
          </a:prstGeom>
          <a:noFill/>
        </p:spPr>
        <p:txBody>
          <a:bodyPr wrap="square" lIns="25400" tIns="25400" rIns="25400" bIns="25400" anchor="t">
            <a:spAutoFit/>
          </a:bodyPr>
          <a:lstStyle/>
          <a:p>
            <a:pPr marL="228600" indent="-228600" algn="l">
              <a:lnSpc>
                <a:spcPct val="122000"/>
              </a:lnSpc>
              <a:spcAft>
                <a:spcPts val="900"/>
              </a:spcAft>
            </a:pPr>
            <a:r>
              <a:rPr lang="en-KR" sz="1200" b="1" dirty="0">
                <a:solidFill>
                  <a:srgbClr val="B0470E"/>
                </a:solidFill>
                <a:ea typeface="맑은 고딕"/>
                <a:cs typeface="맑은 고딕"/>
              </a:rPr>
              <a:t>•  </a:t>
            </a:r>
            <a:r>
              <a:rPr sz="1380" b="0" dirty="0">
                <a:solidFill>
                  <a:srgbClr val="2A3845"/>
                </a:solidFill>
                <a:latin typeface="맑은 고딕"/>
                <a:ea typeface="맑은 고딕"/>
                <a:cs typeface="맑은 고딕"/>
              </a:rPr>
              <a:t>459 </a:t>
            </a:r>
            <a:r>
              <a:rPr sz="1380" b="0" dirty="0" err="1">
                <a:solidFill>
                  <a:srgbClr val="2A3845"/>
                </a:solidFill>
                <a:latin typeface="맑은 고딕"/>
                <a:ea typeface="맑은 고딕"/>
                <a:cs typeface="맑은 고딕"/>
              </a:rPr>
              <a:t>실도로</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경로는</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지형</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경사</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미적용</a:t>
            </a:r>
            <a:r>
              <a:rPr sz="1380" b="0" dirty="0">
                <a:solidFill>
                  <a:srgbClr val="2A3845"/>
                </a:solidFill>
                <a:latin typeface="맑은 고딕"/>
                <a:ea typeface="맑은 고딕"/>
                <a:cs typeface="맑은 고딕"/>
              </a:rPr>
              <a:t>(</a:t>
            </a:r>
            <a:r>
              <a:rPr sz="1380" b="0" dirty="0" err="1">
                <a:solidFill>
                  <a:srgbClr val="2A3845"/>
                </a:solidFill>
                <a:latin typeface="맑은 고딕"/>
                <a:ea typeface="맑은 고딕"/>
                <a:cs typeface="맑은 고딕"/>
              </a:rPr>
              <a:t>평면</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가정</a:t>
            </a:r>
            <a:r>
              <a:rPr sz="1380" b="0" dirty="0">
                <a:solidFill>
                  <a:srgbClr val="2A3845"/>
                </a:solidFill>
                <a:latin typeface="맑은 고딕"/>
                <a:ea typeface="맑은 고딕"/>
                <a:cs typeface="맑은 고딕"/>
              </a:rPr>
              <a:t>)</a:t>
            </a:r>
          </a:p>
          <a:p>
            <a:pPr marL="228600" indent="-228600" algn="l">
              <a:lnSpc>
                <a:spcPct val="122000"/>
              </a:lnSpc>
              <a:spcBef>
                <a:spcPts val="0"/>
              </a:spcBef>
              <a:spcAft>
                <a:spcPts val="900"/>
              </a:spcAft>
            </a:pPr>
            <a:r>
              <a:rPr sz="1400" b="1" dirty="0">
                <a:solidFill>
                  <a:srgbClr val="B0470E"/>
                </a:solidFill>
                <a:latin typeface="맑은 고딕"/>
                <a:ea typeface="맑은 고딕"/>
                <a:cs typeface="맑은 고딕"/>
              </a:rPr>
              <a:t>•  </a:t>
            </a:r>
            <a:r>
              <a:rPr sz="1380" b="0" dirty="0" err="1">
                <a:solidFill>
                  <a:srgbClr val="2A3845"/>
                </a:solidFill>
                <a:latin typeface="맑은 고딕"/>
                <a:ea typeface="맑은 고딕"/>
                <a:cs typeface="맑은 고딕"/>
              </a:rPr>
              <a:t>전방 시뮬레이션의</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공간</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일치도</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IoU</a:t>
            </a:r>
            <a:r>
              <a:rPr sz="1380" b="0" dirty="0">
                <a:solidFill>
                  <a:srgbClr val="2A3845"/>
                </a:solidFill>
                <a:latin typeface="맑은 고딕"/>
                <a:ea typeface="맑은 고딕"/>
                <a:cs typeface="맑은 고딕"/>
              </a:rPr>
              <a:t> 0.37–0.40</a:t>
            </a:r>
          </a:p>
        </p:txBody>
      </p:sp>
      <p:sp>
        <p:nvSpPr>
          <p:cNvPr id="6" name="Rounded Rectangle 5"/>
          <p:cNvSpPr/>
          <p:nvPr/>
        </p:nvSpPr>
        <p:spPr>
          <a:xfrm>
            <a:off x="6245352" y="1900000"/>
            <a:ext cx="5440680" cy="2900000"/>
          </a:xfrm>
          <a:prstGeom prst="roundRect">
            <a:avLst>
              <a:gd name="adj" fmla="val 8000"/>
            </a:avLst>
          </a:prstGeom>
          <a:solidFill>
            <a:srgbClr val="E7F4FB"/>
          </a:solidFill>
          <a:ln w="20320">
            <a:solidFill>
              <a:srgbClr val="0B6E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99672" y="2128600"/>
            <a:ext cx="4257760" cy="548640"/>
          </a:xfrm>
          <a:prstGeom prst="rect">
            <a:avLst/>
          </a:prstGeom>
          <a:noFill/>
        </p:spPr>
        <p:txBody>
          <a:bodyPr wrap="square" lIns="25400" tIns="25400" rIns="25400" bIns="25400" anchor="t">
            <a:spAutoFit/>
          </a:bodyPr>
          <a:lstStyle/>
          <a:p>
            <a:pPr marL="228600" indent="-228600" algn="l">
              <a:spcBef>
                <a:spcPts val="0"/>
              </a:spcBef>
              <a:spcAft>
                <a:spcPts val="400"/>
              </a:spcAft>
            </a:pPr>
            <a:r>
              <a:rPr sz="1900" b="1">
                <a:solidFill>
                  <a:srgbClr val="0B6E96"/>
                </a:solidFill>
                <a:latin typeface="HY헤드라인M"/>
                <a:ea typeface="HY헤드라인M"/>
                <a:cs typeface="HY헤드라인M"/>
              </a:rPr>
              <a:t>향후</a:t>
            </a:r>
          </a:p>
        </p:txBody>
      </p:sp>
      <p:sp>
        <p:nvSpPr>
          <p:cNvPr id="8" name="TextBox 7"/>
          <p:cNvSpPr txBox="1"/>
          <p:nvPr/>
        </p:nvSpPr>
        <p:spPr>
          <a:xfrm>
            <a:off x="6519672" y="2768680"/>
            <a:ext cx="4956048" cy="1303242"/>
          </a:xfrm>
          <a:prstGeom prst="rect">
            <a:avLst/>
          </a:prstGeom>
          <a:noFill/>
        </p:spPr>
        <p:txBody>
          <a:bodyPr wrap="square" lIns="25400" tIns="25400" rIns="25400" bIns="25400" anchor="t">
            <a:spAutoFit/>
          </a:bodyPr>
          <a:lstStyle/>
          <a:p>
            <a:pPr marL="228600" indent="-228600" algn="l">
              <a:lnSpc>
                <a:spcPct val="122000"/>
              </a:lnSpc>
              <a:spcBef>
                <a:spcPts val="0"/>
              </a:spcBef>
              <a:spcAft>
                <a:spcPts val="900"/>
              </a:spcAft>
            </a:pPr>
            <a:r>
              <a:rPr sz="1400" b="1" dirty="0">
                <a:solidFill>
                  <a:srgbClr val="0B6E96"/>
                </a:solidFill>
                <a:latin typeface="맑은 고딕"/>
                <a:ea typeface="맑은 고딕"/>
                <a:cs typeface="맑은 고딕"/>
              </a:rPr>
              <a:t>•  </a:t>
            </a:r>
            <a:r>
              <a:rPr sz="1380" b="0" dirty="0" err="1">
                <a:solidFill>
                  <a:srgbClr val="2A3845"/>
                </a:solidFill>
                <a:latin typeface="맑은 고딕"/>
                <a:ea typeface="맑은 고딕"/>
                <a:cs typeface="맑은 고딕"/>
              </a:rPr>
              <a:t>구조</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수요</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분석을</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실자료</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기반</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예측</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위험면과</a:t>
            </a:r>
            <a:r>
              <a:rPr sz="1380" b="0" dirty="0">
                <a:solidFill>
                  <a:srgbClr val="2A3845"/>
                </a:solidFill>
                <a:latin typeface="맑은 고딕"/>
                <a:ea typeface="맑은 고딕"/>
                <a:cs typeface="맑은 고딕"/>
              </a:rPr>
              <a:t> SRTM </a:t>
            </a:r>
            <a:r>
              <a:rPr sz="1380" b="0" dirty="0" err="1">
                <a:solidFill>
                  <a:srgbClr val="2A3845"/>
                </a:solidFill>
                <a:latin typeface="맑은 고딕"/>
                <a:ea typeface="맑은 고딕"/>
                <a:cs typeface="맑은 고딕"/>
              </a:rPr>
              <a:t>지형으로</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재산출</a:t>
            </a:r>
            <a:endParaRPr sz="1380" b="0" dirty="0">
              <a:solidFill>
                <a:srgbClr val="2A3845"/>
              </a:solidFill>
              <a:latin typeface="맑은 고딕"/>
              <a:ea typeface="맑은 고딕"/>
              <a:cs typeface="맑은 고딕"/>
            </a:endParaRPr>
          </a:p>
          <a:p>
            <a:pPr marL="228600" indent="-228600" algn="l">
              <a:lnSpc>
                <a:spcPct val="122000"/>
              </a:lnSpc>
              <a:spcBef>
                <a:spcPts val="0"/>
              </a:spcBef>
              <a:spcAft>
                <a:spcPts val="900"/>
              </a:spcAft>
            </a:pPr>
            <a:r>
              <a:rPr sz="1400" b="1" dirty="0">
                <a:solidFill>
                  <a:srgbClr val="0B6E96"/>
                </a:solidFill>
                <a:latin typeface="맑은 고딕"/>
                <a:ea typeface="맑은 고딕"/>
                <a:cs typeface="맑은 고딕"/>
              </a:rPr>
              <a:t>•  </a:t>
            </a:r>
            <a:r>
              <a:rPr sz="1380" b="0" dirty="0" err="1">
                <a:solidFill>
                  <a:srgbClr val="2A3845"/>
                </a:solidFill>
                <a:latin typeface="맑은 고딕"/>
                <a:ea typeface="맑은 고딕"/>
                <a:cs typeface="맑은 고딕"/>
              </a:rPr>
              <a:t>다수</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화재·지역으로</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일반화</a:t>
            </a:r>
            <a:endParaRPr sz="1380" b="0" dirty="0">
              <a:solidFill>
                <a:srgbClr val="2A3845"/>
              </a:solidFill>
              <a:latin typeface="맑은 고딕"/>
              <a:ea typeface="맑은 고딕"/>
              <a:cs typeface="맑은 고딕"/>
            </a:endParaRPr>
          </a:p>
          <a:p>
            <a:pPr marL="228600" indent="-228600" algn="l">
              <a:lnSpc>
                <a:spcPct val="122000"/>
              </a:lnSpc>
              <a:spcBef>
                <a:spcPts val="0"/>
              </a:spcBef>
              <a:spcAft>
                <a:spcPts val="900"/>
              </a:spcAft>
            </a:pPr>
            <a:r>
              <a:rPr sz="1400" b="1" dirty="0">
                <a:solidFill>
                  <a:srgbClr val="0B6E96"/>
                </a:solidFill>
                <a:latin typeface="맑은 고딕"/>
                <a:ea typeface="맑은 고딕"/>
                <a:cs typeface="맑은 고딕"/>
              </a:rPr>
              <a:t>•  </a:t>
            </a:r>
            <a:r>
              <a:rPr sz="1380" b="0" dirty="0" err="1">
                <a:solidFill>
                  <a:srgbClr val="2A3845"/>
                </a:solidFill>
                <a:latin typeface="맑은 고딕"/>
                <a:ea typeface="맑은 고딕"/>
                <a:cs typeface="맑은 고딕"/>
              </a:rPr>
              <a:t>실시간</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기상</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자료와</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실제</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거주</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정보의</a:t>
            </a:r>
            <a:r>
              <a:rPr sz="1380" b="0" dirty="0">
                <a:solidFill>
                  <a:srgbClr val="2A3845"/>
                </a:solidFill>
                <a:latin typeface="맑은 고딕"/>
                <a:ea typeface="맑은 고딕"/>
                <a:cs typeface="맑은 고딕"/>
              </a:rPr>
              <a:t> </a:t>
            </a:r>
            <a:r>
              <a:rPr sz="1380" b="0" dirty="0" err="1">
                <a:solidFill>
                  <a:srgbClr val="2A3845"/>
                </a:solidFill>
                <a:latin typeface="맑은 고딕"/>
                <a:ea typeface="맑은 고딕"/>
                <a:cs typeface="맑은 고딕"/>
              </a:rPr>
              <a:t>연동</a:t>
            </a:r>
            <a:endParaRPr sz="1380" b="0" dirty="0">
              <a:solidFill>
                <a:srgbClr val="2A3845"/>
              </a:solidFill>
              <a:latin typeface="맑은 고딕"/>
              <a:ea typeface="맑은 고딕"/>
              <a:cs typeface="맑은 고딕"/>
            </a:endParaRPr>
          </a:p>
        </p:txBody>
      </p:sp>
      <p:sp>
        <p:nvSpPr>
          <p:cNvPr id="9" name="TextBox 8"/>
          <p:cNvSpPr txBox="1"/>
          <p:nvPr/>
        </p:nvSpPr>
        <p:spPr>
          <a:xfrm>
            <a:off x="502920" y="5200000"/>
            <a:ext cx="11183112" cy="457200"/>
          </a:xfrm>
          <a:prstGeom prst="rect">
            <a:avLst/>
          </a:prstGeom>
          <a:noFill/>
        </p:spPr>
        <p:txBody>
          <a:bodyPr wrap="square" lIns="25400" tIns="25400" rIns="25400" bIns="25400" anchor="t">
            <a:spAutoFit/>
          </a:bodyPr>
          <a:lstStyle/>
          <a:p>
            <a:pPr algn="ctr">
              <a:spcBef>
                <a:spcPts val="0"/>
              </a:spcBef>
              <a:spcAft>
                <a:spcPts val="400"/>
              </a:spcAft>
            </a:pPr>
            <a:r>
              <a:rPr sz="1450" b="1">
                <a:solidFill>
                  <a:srgbClr val="0E2841"/>
                </a:solidFill>
                <a:latin typeface="맑은 고딕"/>
                <a:ea typeface="맑은 고딕"/>
                <a:cs typeface="맑은 고딕"/>
              </a:rPr>
              <a:t>예측을 가구 단위 대피·구조 의사결정으로 전환하고, 개선이 없는 사례까지 그대로 보고합니다.</a:t>
            </a:r>
          </a:p>
        </p:txBody>
      </p:sp>
      <p:pic>
        <p:nvPicPr>
          <p:cNvPr id="60" name="IconLimit"/>
          <p:cNvPicPr/>
          <p:nvPr/>
        </p:nvPicPr>
        <p:blipFill>
          <a:blip r:embed="rId3"/>
          <a:stretch>
            <a:fillRect/>
          </a:stretch>
        </p:blipFill>
        <p:spPr>
          <a:xfrm>
            <a:off x="800000" y="2137240"/>
            <a:ext cx="530000" cy="530000"/>
          </a:xfrm>
          <a:prstGeom prst="rect">
            <a:avLst/>
          </a:prstGeom>
        </p:spPr>
      </p:pic>
      <p:pic>
        <p:nvPicPr>
          <p:cNvPr id="61" name="IconFuture"/>
          <p:cNvPicPr/>
          <p:nvPr/>
        </p:nvPicPr>
        <p:blipFill>
          <a:blip r:embed="rId4"/>
          <a:stretch>
            <a:fillRect/>
          </a:stretch>
        </p:blipFill>
        <p:spPr>
          <a:xfrm>
            <a:off x="6542000" y="2137240"/>
            <a:ext cx="530000" cy="53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CC48E27E-56CC-35E3-1EA0-9D52BD635222}"/>
              </a:ext>
            </a:extLst>
          </p:cNvPr>
          <p:cNvSpPr txBox="1">
            <a:spLocks/>
          </p:cNvSpPr>
          <p:nvPr/>
        </p:nvSpPr>
        <p:spPr>
          <a:xfrm>
            <a:off x="1199302" y="2023105"/>
            <a:ext cx="7079284" cy="1519822"/>
          </a:xfrm>
          <a:prstGeom prst="rect">
            <a:avLst/>
          </a:prstGeom>
        </p:spPr>
        <p:txBody>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ko-KR" altLang="en-US" sz="6000" b="1" dirty="0">
                <a:latin typeface="HY헤드라인M" panose="02030600000101010101" pitchFamily="18" charset="-127"/>
                <a:ea typeface="HY헤드라인M" panose="02030600000101010101" pitchFamily="18" charset="-127"/>
              </a:rPr>
              <a:t>감사합니다</a:t>
            </a:r>
          </a:p>
        </p:txBody>
      </p:sp>
    </p:spTree>
    <p:extLst>
      <p:ext uri="{BB962C8B-B14F-4D97-AF65-F5344CB8AC3E}">
        <p14:creationId xmlns:p14="http://schemas.microsoft.com/office/powerpoint/2010/main" val="2857561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57200"/>
            <a:ext cx="11155680" cy="713232"/>
          </a:xfrm>
          <a:prstGeom prst="rect">
            <a:avLst/>
          </a:prstGeom>
          <a:noFill/>
        </p:spPr>
        <p:txBody>
          <a:bodyPr wrap="square" lIns="0" tIns="0">
            <a:spAutoFit/>
          </a:bodyPr>
          <a:lstStyle/>
          <a:p>
            <a:r>
              <a:rPr sz="2500" b="1">
                <a:solidFill>
                  <a:srgbClr val="0E2841"/>
                </a:solidFill>
                <a:latin typeface="HY헤드라인M"/>
                <a:ea typeface="HY헤드라인M"/>
                <a:cs typeface="HY헤드라인M"/>
              </a:rPr>
              <a:t>부록 ─ 읍·면·동이 아니라 가구 단위로</a:t>
            </a:r>
          </a:p>
        </p:txBody>
      </p:sp>
      <p:sp>
        <p:nvSpPr>
          <p:cNvPr id="3" name="Rounded Rectangle 2"/>
          <p:cNvSpPr/>
          <p:nvPr/>
        </p:nvSpPr>
        <p:spPr>
          <a:xfrm>
            <a:off x="502920" y="1508760"/>
            <a:ext cx="5440680" cy="3977639"/>
          </a:xfrm>
          <a:prstGeom prst="roundRect">
            <a:avLst>
              <a:gd name="adj" fmla="val 8000"/>
            </a:avLst>
          </a:prstGeom>
          <a:solidFill>
            <a:srgbClr val="FBEFE6"/>
          </a:solidFill>
          <a:ln w="20320">
            <a:solidFill>
              <a:srgbClr val="B047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1737360"/>
            <a:ext cx="4937760" cy="548640"/>
          </a:xfrm>
          <a:prstGeom prst="rect">
            <a:avLst/>
          </a:prstGeom>
          <a:noFill/>
        </p:spPr>
        <p:txBody>
          <a:bodyPr wrap="square" lIns="25400" tIns="25400" rIns="25400" bIns="25400" anchor="t">
            <a:spAutoFit/>
          </a:bodyPr>
          <a:lstStyle/>
          <a:p>
            <a:pPr algn="l">
              <a:spcBef>
                <a:spcPts val="0"/>
              </a:spcBef>
              <a:spcAft>
                <a:spcPts val="400"/>
              </a:spcAft>
            </a:pPr>
            <a:r>
              <a:rPr sz="1900" b="1">
                <a:solidFill>
                  <a:srgbClr val="B0470E"/>
                </a:solidFill>
                <a:latin typeface="HY헤드라인M"/>
                <a:ea typeface="HY헤드라인M"/>
                <a:cs typeface="HY헤드라인M"/>
              </a:rPr>
              <a:t>읍·면·동 단위 대비</a:t>
            </a:r>
          </a:p>
        </p:txBody>
      </p:sp>
      <p:sp>
        <p:nvSpPr>
          <p:cNvPr id="5" name="TextBox 4"/>
          <p:cNvSpPr txBox="1"/>
          <p:nvPr/>
        </p:nvSpPr>
        <p:spPr>
          <a:xfrm>
            <a:off x="777240" y="2395728"/>
            <a:ext cx="4937760" cy="2926080"/>
          </a:xfrm>
          <a:prstGeom prst="rect">
            <a:avLst/>
          </a:prstGeom>
          <a:noFill/>
        </p:spPr>
        <p:txBody>
          <a:bodyPr wrap="square" lIns="25400" tIns="25400" rIns="25400" bIns="25400" anchor="t">
            <a:spAutoFit/>
          </a:bodyPr>
          <a:lstStyle/>
          <a:p>
            <a:pPr algn="l">
              <a:lnSpc>
                <a:spcPct val="120000"/>
              </a:lnSpc>
              <a:spcBef>
                <a:spcPts val="0"/>
              </a:spcBef>
              <a:spcAft>
                <a:spcPts val="900"/>
              </a:spcAft>
            </a:pPr>
            <a:r>
              <a:rPr sz="1500" b="1">
                <a:solidFill>
                  <a:srgbClr val="B0470E"/>
                </a:solidFill>
                <a:latin typeface="맑은 고딕"/>
                <a:ea typeface="맑은 고딕"/>
                <a:cs typeface="맑은 고딕"/>
              </a:rPr>
              <a:t>•  </a:t>
            </a:r>
            <a:r>
              <a:rPr sz="1450" b="0">
                <a:solidFill>
                  <a:srgbClr val="2A3845"/>
                </a:solidFill>
                <a:latin typeface="맑은 고딕"/>
                <a:ea typeface="맑은 고딕"/>
                <a:cs typeface="맑은 고딕"/>
              </a:rPr>
              <a:t>광역 경보 · 평균적 대비</a:t>
            </a:r>
          </a:p>
          <a:p>
            <a:pPr algn="l">
              <a:lnSpc>
                <a:spcPct val="120000"/>
              </a:lnSpc>
              <a:spcBef>
                <a:spcPts val="0"/>
              </a:spcBef>
              <a:spcAft>
                <a:spcPts val="900"/>
              </a:spcAft>
            </a:pPr>
            <a:r>
              <a:rPr sz="1500" b="1">
                <a:solidFill>
                  <a:srgbClr val="B0470E"/>
                </a:solidFill>
                <a:latin typeface="맑은 고딕"/>
                <a:ea typeface="맑은 고딕"/>
                <a:cs typeface="맑은 고딕"/>
              </a:rPr>
              <a:t>•  </a:t>
            </a:r>
            <a:r>
              <a:rPr sz="1450" b="0">
                <a:solidFill>
                  <a:srgbClr val="2A3845"/>
                </a:solidFill>
                <a:latin typeface="맑은 고딕"/>
                <a:ea typeface="맑은 고딕"/>
                <a:cs typeface="맑은 고딕"/>
              </a:rPr>
              <a:t>개인의 도보 이동 능력 미반영</a:t>
            </a:r>
          </a:p>
          <a:p>
            <a:pPr algn="l">
              <a:lnSpc>
                <a:spcPct val="120000"/>
              </a:lnSpc>
              <a:spcBef>
                <a:spcPts val="0"/>
              </a:spcBef>
              <a:spcAft>
                <a:spcPts val="900"/>
              </a:spcAft>
            </a:pPr>
            <a:r>
              <a:rPr sz="1500" b="1">
                <a:solidFill>
                  <a:srgbClr val="B0470E"/>
                </a:solidFill>
                <a:latin typeface="맑은 고딕"/>
                <a:ea typeface="맑은 고딕"/>
                <a:cs typeface="맑은 고딕"/>
              </a:rPr>
              <a:t>•  </a:t>
            </a:r>
            <a:r>
              <a:rPr sz="1450" b="0">
                <a:solidFill>
                  <a:srgbClr val="2A3845"/>
                </a:solidFill>
                <a:latin typeface="맑은 고딕"/>
                <a:ea typeface="맑은 고딕"/>
                <a:cs typeface="맑은 고딕"/>
              </a:rPr>
              <a:t>“누가 걸어서 못 피하는가”를 알 수 없음</a:t>
            </a:r>
          </a:p>
        </p:txBody>
      </p:sp>
      <p:sp>
        <p:nvSpPr>
          <p:cNvPr id="6" name="Rounded Rectangle 5"/>
          <p:cNvSpPr/>
          <p:nvPr/>
        </p:nvSpPr>
        <p:spPr>
          <a:xfrm>
            <a:off x="6245352" y="1508760"/>
            <a:ext cx="5440680" cy="3977639"/>
          </a:xfrm>
          <a:prstGeom prst="roundRect">
            <a:avLst>
              <a:gd name="adj" fmla="val 8000"/>
            </a:avLst>
          </a:prstGeom>
          <a:solidFill>
            <a:srgbClr val="E7F4FB"/>
          </a:solidFill>
          <a:ln w="20320">
            <a:solidFill>
              <a:srgbClr val="0B6E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19672" y="1737360"/>
            <a:ext cx="4937760" cy="548640"/>
          </a:xfrm>
          <a:prstGeom prst="rect">
            <a:avLst/>
          </a:prstGeom>
          <a:noFill/>
        </p:spPr>
        <p:txBody>
          <a:bodyPr wrap="square" lIns="25400" tIns="25400" rIns="25400" bIns="25400" anchor="t">
            <a:spAutoFit/>
          </a:bodyPr>
          <a:lstStyle/>
          <a:p>
            <a:pPr algn="l">
              <a:spcBef>
                <a:spcPts val="0"/>
              </a:spcBef>
              <a:spcAft>
                <a:spcPts val="400"/>
              </a:spcAft>
            </a:pPr>
            <a:r>
              <a:rPr sz="1900" b="1">
                <a:solidFill>
                  <a:srgbClr val="0B6E96"/>
                </a:solidFill>
                <a:latin typeface="HY헤드라인M"/>
                <a:ea typeface="HY헤드라인M"/>
                <a:cs typeface="HY헤드라인M"/>
              </a:rPr>
              <a:t>가구 단위 대비</a:t>
            </a:r>
          </a:p>
        </p:txBody>
      </p:sp>
      <p:sp>
        <p:nvSpPr>
          <p:cNvPr id="8" name="TextBox 7"/>
          <p:cNvSpPr txBox="1"/>
          <p:nvPr/>
        </p:nvSpPr>
        <p:spPr>
          <a:xfrm>
            <a:off x="6519672" y="2395728"/>
            <a:ext cx="4937760" cy="2926080"/>
          </a:xfrm>
          <a:prstGeom prst="rect">
            <a:avLst/>
          </a:prstGeom>
          <a:noFill/>
        </p:spPr>
        <p:txBody>
          <a:bodyPr wrap="square" lIns="25400" tIns="25400" rIns="25400" bIns="25400" anchor="t">
            <a:spAutoFit/>
          </a:bodyPr>
          <a:lstStyle/>
          <a:p>
            <a:pPr algn="l">
              <a:lnSpc>
                <a:spcPct val="120000"/>
              </a:lnSpc>
              <a:spcBef>
                <a:spcPts val="0"/>
              </a:spcBef>
              <a:spcAft>
                <a:spcPts val="900"/>
              </a:spcAft>
            </a:pPr>
            <a:r>
              <a:rPr sz="1500" b="1">
                <a:solidFill>
                  <a:srgbClr val="0B6E96"/>
                </a:solidFill>
                <a:latin typeface="맑은 고딕"/>
                <a:ea typeface="맑은 고딕"/>
                <a:cs typeface="맑은 고딕"/>
              </a:rPr>
              <a:t>•  </a:t>
            </a:r>
            <a:r>
              <a:rPr sz="1450" b="0">
                <a:solidFill>
                  <a:srgbClr val="2A3845"/>
                </a:solidFill>
                <a:latin typeface="맑은 고딕"/>
                <a:ea typeface="맑은 고딕"/>
                <a:cs typeface="맑은 고딕"/>
              </a:rPr>
              <a:t>가구별 위험 · 도보 이동 가능성 평가</a:t>
            </a:r>
          </a:p>
          <a:p>
            <a:pPr algn="l">
              <a:lnSpc>
                <a:spcPct val="120000"/>
              </a:lnSpc>
              <a:spcBef>
                <a:spcPts val="0"/>
              </a:spcBef>
              <a:spcAft>
                <a:spcPts val="900"/>
              </a:spcAft>
            </a:pPr>
            <a:r>
              <a:rPr sz="1500" b="1">
                <a:solidFill>
                  <a:srgbClr val="0B6E96"/>
                </a:solidFill>
                <a:latin typeface="맑은 고딕"/>
                <a:ea typeface="맑은 고딕"/>
                <a:cs typeface="맑은 고딕"/>
              </a:rPr>
              <a:t>•  </a:t>
            </a:r>
            <a:r>
              <a:rPr sz="1450" b="0">
                <a:solidFill>
                  <a:srgbClr val="2A3845"/>
                </a:solidFill>
                <a:latin typeface="맑은 고딕"/>
                <a:ea typeface="맑은 고딕"/>
                <a:cs typeface="맑은 고딕"/>
              </a:rPr>
              <a:t>걸어서 대피 불가능한 대상 식별</a:t>
            </a:r>
          </a:p>
          <a:p>
            <a:pPr algn="l">
              <a:lnSpc>
                <a:spcPct val="120000"/>
              </a:lnSpc>
              <a:spcBef>
                <a:spcPts val="0"/>
              </a:spcBef>
              <a:spcAft>
                <a:spcPts val="900"/>
              </a:spcAft>
            </a:pPr>
            <a:r>
              <a:rPr sz="1500" b="1">
                <a:solidFill>
                  <a:srgbClr val="0B6E96"/>
                </a:solidFill>
                <a:latin typeface="맑은 고딕"/>
                <a:ea typeface="맑은 고딕"/>
                <a:cs typeface="맑은 고딕"/>
              </a:rPr>
              <a:t>•  </a:t>
            </a:r>
            <a:r>
              <a:rPr sz="1450" b="0">
                <a:solidFill>
                  <a:srgbClr val="2A3845"/>
                </a:solidFill>
                <a:latin typeface="맑은 고딕"/>
                <a:ea typeface="맑은 고딕"/>
                <a:cs typeface="맑은 고딕"/>
              </a:rPr>
              <a:t>구조 우선순위로 전환</a:t>
            </a:r>
          </a:p>
        </p:txBody>
      </p:sp>
      <p:sp>
        <p:nvSpPr>
          <p:cNvPr id="9" name="TextBox 8"/>
          <p:cNvSpPr txBox="1"/>
          <p:nvPr/>
        </p:nvSpPr>
        <p:spPr>
          <a:xfrm>
            <a:off x="502920" y="5632704"/>
            <a:ext cx="11183112" cy="548640"/>
          </a:xfrm>
          <a:prstGeom prst="rect">
            <a:avLst/>
          </a:prstGeom>
          <a:noFill/>
        </p:spPr>
        <p:txBody>
          <a:bodyPr wrap="square" lIns="25400" tIns="25400" rIns="25400" bIns="25400" anchor="t">
            <a:spAutoFit/>
          </a:bodyPr>
          <a:lstStyle/>
          <a:p>
            <a:pPr algn="ctr">
              <a:spcBef>
                <a:spcPts val="0"/>
              </a:spcBef>
              <a:spcAft>
                <a:spcPts val="400"/>
              </a:spcAft>
            </a:pPr>
            <a:r>
              <a:rPr sz="1500" b="1">
                <a:solidFill>
                  <a:srgbClr val="0E2841"/>
                </a:solidFill>
                <a:latin typeface="맑은 고딕"/>
                <a:ea typeface="맑은 고딕"/>
                <a:cs typeface="맑은 고딕"/>
              </a:rPr>
              <a:t>같은 예보, 다른 결론 - 대비의 해상도를 가구로 낮춥니다.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57200"/>
            <a:ext cx="11155680" cy="713232"/>
          </a:xfrm>
          <a:prstGeom prst="rect">
            <a:avLst/>
          </a:prstGeom>
          <a:noFill/>
        </p:spPr>
        <p:txBody>
          <a:bodyPr wrap="square" lIns="0" tIns="0">
            <a:spAutoFit/>
          </a:bodyPr>
          <a:lstStyle/>
          <a:p>
            <a:r>
              <a:rPr sz="2500" b="1">
                <a:solidFill>
                  <a:srgbClr val="0E2841"/>
                </a:solidFill>
                <a:latin typeface="HY헤드라인M"/>
                <a:ea typeface="HY헤드라인M"/>
                <a:cs typeface="HY헤드라인M"/>
              </a:rPr>
              <a:t>부록 ─ 03. 검증과 결과 - 실제 / 합성 축 행렬</a:t>
            </a:r>
          </a:p>
        </p:txBody>
      </p:sp>
      <p:pic>
        <p:nvPicPr>
          <p:cNvPr id="3" name="Picture 2" descr="V7_real_synthetic_matrix.png"/>
          <p:cNvPicPr>
            <a:picLocks noChangeAspect="1"/>
          </p:cNvPicPr>
          <p:nvPr/>
        </p:nvPicPr>
        <p:blipFill>
          <a:blip r:embed="rId2"/>
          <a:stretch>
            <a:fillRect/>
          </a:stretch>
        </p:blipFill>
        <p:spPr>
          <a:xfrm>
            <a:off x="1372091" y="1207008"/>
            <a:ext cx="9444768" cy="49560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57200"/>
            <a:ext cx="11155680" cy="713232"/>
          </a:xfrm>
          <a:prstGeom prst="rect">
            <a:avLst/>
          </a:prstGeom>
          <a:noFill/>
        </p:spPr>
        <p:txBody>
          <a:bodyPr wrap="square" lIns="0" tIns="0">
            <a:spAutoFit/>
          </a:bodyPr>
          <a:lstStyle/>
          <a:p>
            <a:r>
              <a:rPr sz="2500" b="1">
                <a:solidFill>
                  <a:srgbClr val="0E2841"/>
                </a:solidFill>
                <a:latin typeface="HY헤드라인M"/>
                <a:ea typeface="HY헤드라인M"/>
                <a:cs typeface="HY헤드라인M"/>
              </a:rPr>
              <a:t>부록 ─ 03. 검증과 결과 - 예측 성능과 근거</a:t>
            </a:r>
          </a:p>
        </p:txBody>
      </p:sp>
      <p:pic>
        <p:nvPicPr>
          <p:cNvPr id="3" name="Picture 2" descr="V6_permutation_importance.png"/>
          <p:cNvPicPr>
            <a:picLocks noChangeAspect="1"/>
          </p:cNvPicPr>
          <p:nvPr/>
        </p:nvPicPr>
        <p:blipFill>
          <a:blip r:embed="rId2"/>
          <a:stretch>
            <a:fillRect/>
          </a:stretch>
        </p:blipFill>
        <p:spPr>
          <a:xfrm>
            <a:off x="502920" y="1371600"/>
            <a:ext cx="5532120" cy="3399188"/>
          </a:xfrm>
          <a:prstGeom prst="rect">
            <a:avLst/>
          </a:prstGeom>
        </p:spPr>
      </p:pic>
      <p:pic>
        <p:nvPicPr>
          <p:cNvPr id="4" name="Picture 3" descr="V5_logo_cv_small_multiples.png"/>
          <p:cNvPicPr>
            <a:picLocks noChangeAspect="1"/>
          </p:cNvPicPr>
          <p:nvPr/>
        </p:nvPicPr>
        <p:blipFill>
          <a:blip r:embed="rId3"/>
          <a:stretch>
            <a:fillRect/>
          </a:stretch>
        </p:blipFill>
        <p:spPr>
          <a:xfrm>
            <a:off x="6355080" y="1554480"/>
            <a:ext cx="5303520" cy="2637671"/>
          </a:xfrm>
          <a:prstGeom prst="rect">
            <a:avLst/>
          </a:prstGeom>
        </p:spPr>
      </p:pic>
      <p:sp>
        <p:nvSpPr>
          <p:cNvPr id="5" name="TextBox 4"/>
          <p:cNvSpPr txBox="1"/>
          <p:nvPr/>
        </p:nvSpPr>
        <p:spPr>
          <a:xfrm>
            <a:off x="6355080" y="4526280"/>
            <a:ext cx="5303520" cy="1371600"/>
          </a:xfrm>
          <a:prstGeom prst="rect">
            <a:avLst/>
          </a:prstGeom>
          <a:noFill/>
        </p:spPr>
        <p:txBody>
          <a:bodyPr wrap="square" lIns="25400" tIns="25400" rIns="25400" bIns="25400" anchor="t">
            <a:spAutoFit/>
          </a:bodyPr>
          <a:lstStyle/>
          <a:p>
            <a:pPr algn="l">
              <a:lnSpc>
                <a:spcPct val="125000"/>
              </a:lnSpc>
              <a:spcBef>
                <a:spcPts val="0"/>
              </a:spcBef>
              <a:spcAft>
                <a:spcPts val="600"/>
              </a:spcAft>
            </a:pPr>
            <a:r>
              <a:rPr sz="1450" b="1">
                <a:solidFill>
                  <a:srgbClr val="0E2841"/>
                </a:solidFill>
                <a:latin typeface="맑은 고딕"/>
                <a:ea typeface="맑은 고딕"/>
                <a:cs typeface="맑은 고딕"/>
              </a:rPr>
              <a:t>6개 폴드 모두 무작위(0.5)를 유의하게 초과</a:t>
            </a:r>
          </a:p>
          <a:p>
            <a:pPr algn="l">
              <a:lnSpc>
                <a:spcPct val="125000"/>
              </a:lnSpc>
              <a:spcBef>
                <a:spcPts val="0"/>
              </a:spcBef>
              <a:spcAft>
                <a:spcPts val="400"/>
              </a:spcAft>
            </a:pPr>
            <a:r>
              <a:rPr sz="1300" b="0">
                <a:solidFill>
                  <a:srgbClr val="2A3845"/>
                </a:solidFill>
                <a:latin typeface="맑은 고딕"/>
                <a:ea typeface="맑은 고딕"/>
                <a:cs typeface="맑은 고딕"/>
              </a:rPr>
              <a:t>통합 AUC 0.905 · 폴드 평균 0.890 · 최대 p = 0.00027. 심각도 특징군을 제거했을 때의 성능 저하가 단일 풍향 정렬 변수보다 컸습니다. 다만 비교한 특징 수가 6대 1이어서 가설은 확립하지 못하였습니다.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57200"/>
            <a:ext cx="11155680" cy="713232"/>
          </a:xfrm>
          <a:prstGeom prst="rect">
            <a:avLst/>
          </a:prstGeom>
          <a:noFill/>
        </p:spPr>
        <p:txBody>
          <a:bodyPr wrap="square" lIns="0" tIns="0">
            <a:spAutoFit/>
          </a:bodyPr>
          <a:lstStyle/>
          <a:p>
            <a:r>
              <a:rPr sz="2500" b="1">
                <a:solidFill>
                  <a:srgbClr val="0E2841"/>
                </a:solidFill>
                <a:latin typeface="HY헤드라인M"/>
                <a:ea typeface="HY헤드라인M"/>
                <a:cs typeface="HY헤드라인M"/>
              </a:rPr>
              <a:t>부록 ─ 출발지별 노출 대응 (개별 사례)</a:t>
            </a:r>
          </a:p>
        </p:txBody>
      </p:sp>
      <p:pic>
        <p:nvPicPr>
          <p:cNvPr id="3" name="Picture 2" descr="V3_household_exposure_slope.png"/>
          <p:cNvPicPr>
            <a:picLocks noChangeAspect="1"/>
          </p:cNvPicPr>
          <p:nvPr/>
        </p:nvPicPr>
        <p:blipFill>
          <a:blip r:embed="rId3"/>
          <a:stretch>
            <a:fillRect/>
          </a:stretch>
        </p:blipFill>
        <p:spPr>
          <a:xfrm>
            <a:off x="502920" y="1346595"/>
            <a:ext cx="6720840" cy="4676873"/>
          </a:xfrm>
          <a:prstGeom prst="rect">
            <a:avLst/>
          </a:prstGeom>
        </p:spPr>
      </p:pic>
      <p:sp>
        <p:nvSpPr>
          <p:cNvPr id="4" name="Rounded Rectangle 3"/>
          <p:cNvSpPr/>
          <p:nvPr/>
        </p:nvSpPr>
        <p:spPr>
          <a:xfrm>
            <a:off x="7452360" y="1463040"/>
            <a:ext cx="4160520" cy="4343400"/>
          </a:xfrm>
          <a:prstGeom prst="roundRect">
            <a:avLst>
              <a:gd name="adj" fmla="val 8000"/>
            </a:avLst>
          </a:prstGeom>
          <a:solidFill>
            <a:srgbClr val="F2F5F8"/>
          </a:solidFill>
          <a:ln w="15240">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99248" y="1645920"/>
            <a:ext cx="3703320" cy="4023360"/>
          </a:xfrm>
          <a:prstGeom prst="rect">
            <a:avLst/>
          </a:prstGeom>
          <a:noFill/>
        </p:spPr>
        <p:txBody>
          <a:bodyPr wrap="square" lIns="25400" tIns="25400" rIns="25400" bIns="25400" anchor="t">
            <a:spAutoFit/>
          </a:bodyPr>
          <a:lstStyle/>
          <a:p>
            <a:pPr algn="l">
              <a:spcBef>
                <a:spcPts val="0"/>
              </a:spcBef>
              <a:spcAft>
                <a:spcPts val="1200"/>
              </a:spcAft>
            </a:pPr>
            <a:r>
              <a:rPr sz="1900" b="1">
                <a:solidFill>
                  <a:srgbClr val="0E2841"/>
                </a:solidFill>
                <a:latin typeface="HY헤드라인M"/>
                <a:ea typeface="HY헤드라인M"/>
                <a:cs typeface="HY헤드라인M"/>
              </a:rPr>
              <a:t>439곳 전체 분해</a:t>
            </a:r>
          </a:p>
          <a:p>
            <a:pPr algn="l">
              <a:spcBef>
                <a:spcPts val="0"/>
              </a:spcBef>
              <a:spcAft>
                <a:spcPts val="200"/>
              </a:spcAft>
            </a:pPr>
            <a:r>
              <a:rPr sz="1550" b="1">
                <a:solidFill>
                  <a:srgbClr val="196B24"/>
                </a:solidFill>
                <a:latin typeface="맑은 고딕"/>
                <a:ea typeface="맑은 고딕"/>
                <a:cs typeface="맑은 고딕"/>
              </a:rPr>
              <a:t>자력 대피 272</a:t>
            </a:r>
          </a:p>
          <a:p>
            <a:pPr algn="l">
              <a:spcBef>
                <a:spcPts val="0"/>
              </a:spcBef>
              <a:spcAft>
                <a:spcPts val="1100"/>
              </a:spcAft>
            </a:pPr>
            <a:r>
              <a:rPr sz="1250" b="0">
                <a:solidFill>
                  <a:srgbClr val="6B7A88"/>
                </a:solidFill>
                <a:latin typeface="맑은 고딕"/>
                <a:ea typeface="맑은 고딕"/>
                <a:cs typeface="맑은 고딕"/>
              </a:rPr>
              <a:t>직접 262 + 대피소 경유 10</a:t>
            </a:r>
          </a:p>
          <a:p>
            <a:pPr algn="l">
              <a:spcBef>
                <a:spcPts val="0"/>
              </a:spcBef>
              <a:spcAft>
                <a:spcPts val="200"/>
              </a:spcAft>
            </a:pPr>
            <a:r>
              <a:rPr sz="1550" b="1">
                <a:solidFill>
                  <a:srgbClr val="B0470E"/>
                </a:solidFill>
                <a:latin typeface="맑은 고딕"/>
                <a:ea typeface="맑은 고딕"/>
                <a:cs typeface="맑은 고딕"/>
              </a:rPr>
              <a:t>구조 필요 167 (38.0%)</a:t>
            </a:r>
          </a:p>
          <a:p>
            <a:pPr algn="l">
              <a:spcBef>
                <a:spcPts val="0"/>
              </a:spcBef>
              <a:spcAft>
                <a:spcPts val="1300"/>
              </a:spcAft>
            </a:pPr>
            <a:r>
              <a:rPr sz="1250" b="0">
                <a:solidFill>
                  <a:srgbClr val="6B7A88"/>
                </a:solidFill>
                <a:latin typeface="맑은 고딕"/>
                <a:ea typeface="맑은 고딕"/>
                <a:cs typeface="맑은 고딕"/>
              </a:rPr>
              <a:t>도달 가능 143 + 불가 24</a:t>
            </a:r>
          </a:p>
          <a:p>
            <a:pPr algn="l">
              <a:lnSpc>
                <a:spcPct val="120000"/>
              </a:lnSpc>
              <a:spcBef>
                <a:spcPts val="0"/>
              </a:spcBef>
              <a:spcAft>
                <a:spcPts val="150"/>
              </a:spcAft>
            </a:pPr>
            <a:r>
              <a:rPr sz="1350" b="0">
                <a:solidFill>
                  <a:srgbClr val="2A3845"/>
                </a:solidFill>
                <a:latin typeface="맑은 고딕"/>
                <a:ea typeface="맑은 고딕"/>
                <a:cs typeface="맑은 고딕"/>
              </a:rPr>
              <a:t>구조대 경로 노출</a:t>
            </a:r>
            <a:r>
              <a:rPr sz="1450" b="1">
                <a:solidFill>
                  <a:srgbClr val="0B6E96"/>
                </a:solidFill>
                <a:latin typeface="맑은 고딕"/>
                <a:ea typeface="맑은 고딕"/>
                <a:cs typeface="맑은 고딕"/>
              </a:rPr>
              <a:t>  6.12 → 1.71, 약 72% 감소</a:t>
            </a:r>
          </a:p>
          <a:p>
            <a:pPr algn="l">
              <a:lnSpc>
                <a:spcPct val="120000"/>
              </a:lnSpc>
              <a:spcBef>
                <a:spcPts val="0"/>
              </a:spcBef>
              <a:spcAft>
                <a:spcPts val="700"/>
              </a:spcAft>
            </a:pPr>
            <a:r>
              <a:rPr sz="1150" b="0">
                <a:solidFill>
                  <a:srgbClr val="6B7A88"/>
                </a:solidFill>
                <a:latin typeface="맑은 고딕"/>
                <a:ea typeface="맑은 고딕"/>
                <a:cs typeface="맑은 고딕"/>
              </a:rPr>
              <a:t>최단경로 노출이 생존 인지 경로보다 약 3.6배 높음</a:t>
            </a:r>
          </a:p>
          <a:p>
            <a:pPr algn="l">
              <a:lnSpc>
                <a:spcPct val="120000"/>
              </a:lnSpc>
              <a:spcBef>
                <a:spcPts val="0"/>
              </a:spcBef>
              <a:spcAft>
                <a:spcPts val="0"/>
              </a:spcAft>
            </a:pPr>
            <a:r>
              <a:rPr sz="1350" b="0">
                <a:solidFill>
                  <a:srgbClr val="2A3845"/>
                </a:solidFill>
                <a:latin typeface="맑은 고딕"/>
                <a:ea typeface="맑은 고딕"/>
                <a:cs typeface="맑은 고딕"/>
              </a:rPr>
              <a:t>최단경로 143건 중 </a:t>
            </a:r>
            <a:r>
              <a:rPr sz="1450" b="1">
                <a:solidFill>
                  <a:srgbClr val="B0470E"/>
                </a:solidFill>
                <a:latin typeface="맑은 고딕"/>
                <a:ea typeface="맑은 고딕"/>
                <a:cs typeface="맑은 고딕"/>
              </a:rPr>
              <a:t>57건</a:t>
            </a:r>
            <a:r>
              <a:rPr sz="1350" b="0">
                <a:solidFill>
                  <a:srgbClr val="2A3845"/>
                </a:solidFill>
                <a:latin typeface="맑은 고딕"/>
                <a:ea typeface="맑은 고딕"/>
                <a:cs typeface="맑은 고딕"/>
              </a:rPr>
              <a:t> 화재 통과</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57200"/>
            <a:ext cx="11155680" cy="713232"/>
          </a:xfrm>
          <a:prstGeom prst="rect">
            <a:avLst/>
          </a:prstGeom>
          <a:noFill/>
        </p:spPr>
        <p:txBody>
          <a:bodyPr wrap="square" lIns="0" tIns="0">
            <a:spAutoFit/>
          </a:bodyPr>
          <a:lstStyle/>
          <a:p>
            <a:r>
              <a:rPr sz="2500" b="1">
                <a:solidFill>
                  <a:srgbClr val="0E2841"/>
                </a:solidFill>
                <a:latin typeface="HY헤드라인M"/>
                <a:ea typeface="HY헤드라인M"/>
                <a:cs typeface="HY헤드라인M"/>
              </a:rPr>
              <a:t>부록 ─ 02. 시스템 설계 - 공개 데이터에서 출동 목록까지</a:t>
            </a:r>
          </a:p>
        </p:txBody>
      </p:sp>
      <p:pic>
        <p:nvPicPr>
          <p:cNvPr id="3" name="Picture 2" descr="D2_dataflow_light.png"/>
          <p:cNvPicPr>
            <a:picLocks noChangeAspect="1"/>
          </p:cNvPicPr>
          <p:nvPr/>
        </p:nvPicPr>
        <p:blipFill>
          <a:blip r:embed="rId2"/>
          <a:stretch>
            <a:fillRect/>
          </a:stretch>
        </p:blipFill>
        <p:spPr>
          <a:xfrm>
            <a:off x="502920" y="1207008"/>
            <a:ext cx="4748331" cy="4956048"/>
          </a:xfrm>
          <a:prstGeom prst="rect">
            <a:avLst/>
          </a:prstGeom>
        </p:spPr>
      </p:pic>
      <p:sp>
        <p:nvSpPr>
          <p:cNvPr id="4" name="TextBox 3"/>
          <p:cNvSpPr txBox="1"/>
          <p:nvPr/>
        </p:nvSpPr>
        <p:spPr>
          <a:xfrm>
            <a:off x="7040880" y="1828800"/>
            <a:ext cx="4572000" cy="4023360"/>
          </a:xfrm>
          <a:prstGeom prst="rect">
            <a:avLst/>
          </a:prstGeom>
          <a:noFill/>
        </p:spPr>
        <p:txBody>
          <a:bodyPr wrap="square" lIns="25400" tIns="25400" rIns="25400" bIns="25400" anchor="t">
            <a:spAutoFit/>
          </a:bodyPr>
          <a:lstStyle/>
          <a:p>
            <a:pPr algn="l">
              <a:spcBef>
                <a:spcPts val="0"/>
              </a:spcBef>
              <a:spcAft>
                <a:spcPts val="800"/>
              </a:spcAft>
            </a:pPr>
            <a:r>
              <a:rPr sz="1700" b="1">
                <a:solidFill>
                  <a:srgbClr val="0E2841"/>
                </a:solidFill>
                <a:latin typeface="맑은 고딕"/>
                <a:ea typeface="맑은 고딕"/>
                <a:cs typeface="맑은 고딕"/>
              </a:rPr>
              <a:t>확산 예측 입력은 모두 공개 실자료</a:t>
            </a:r>
          </a:p>
          <a:p>
            <a:pPr algn="l">
              <a:lnSpc>
                <a:spcPct val="130000"/>
              </a:lnSpc>
              <a:spcBef>
                <a:spcPts val="0"/>
              </a:spcBef>
              <a:spcAft>
                <a:spcPts val="1400"/>
              </a:spcAft>
            </a:pPr>
            <a:r>
              <a:rPr sz="1350" b="0">
                <a:solidFill>
                  <a:srgbClr val="2A3845"/>
                </a:solidFill>
                <a:latin typeface="맑은 고딕"/>
                <a:ea typeface="맑은 고딕"/>
                <a:cs typeface="맑은 고딕"/>
              </a:rPr>
              <a:t>NASA FIRMS · ECMWF ERA5 · NASA SRTM · ESA WorldCover</a:t>
            </a:r>
          </a:p>
          <a:p>
            <a:pPr algn="l">
              <a:lnSpc>
                <a:spcPct val="130000"/>
              </a:lnSpc>
              <a:spcBef>
                <a:spcPts val="0"/>
              </a:spcBef>
              <a:spcAft>
                <a:spcPts val="1200"/>
              </a:spcAft>
            </a:pPr>
            <a:r>
              <a:rPr sz="1450" b="0">
                <a:solidFill>
                  <a:srgbClr val="2A3845"/>
                </a:solidFill>
                <a:latin typeface="맑은 고딕"/>
                <a:ea typeface="맑은 고딕"/>
                <a:cs typeface="맑은 고딕"/>
              </a:rPr>
              <a:t>특징 생성은 미래 정보를 쓰지 않아 정보 누출을 차단합니다.</a:t>
            </a:r>
          </a:p>
          <a:p>
            <a:pPr algn="l">
              <a:lnSpc>
                <a:spcPct val="130000"/>
              </a:lnSpc>
              <a:spcBef>
                <a:spcPts val="0"/>
              </a:spcBef>
              <a:spcAft>
                <a:spcPts val="0"/>
              </a:spcAft>
            </a:pPr>
            <a:r>
              <a:rPr sz="1450" b="0">
                <a:solidFill>
                  <a:srgbClr val="2A3845"/>
                </a:solidFill>
                <a:latin typeface="맑은 고딕"/>
                <a:ea typeface="맑은 고딕"/>
                <a:cs typeface="맑은 고딕"/>
              </a:rPr>
              <a:t>예측된 위험면은 라우팅의 입력이 되고, 두 경로가 우선순위 출동 목록으로 수렴합니다.</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57200"/>
            <a:ext cx="11155680" cy="713232"/>
          </a:xfrm>
          <a:prstGeom prst="rect">
            <a:avLst/>
          </a:prstGeom>
          <a:noFill/>
        </p:spPr>
        <p:txBody>
          <a:bodyPr wrap="square" lIns="0" tIns="0">
            <a:spAutoFit/>
          </a:bodyPr>
          <a:lstStyle/>
          <a:p>
            <a:r>
              <a:rPr sz="2500" b="1">
                <a:solidFill>
                  <a:srgbClr val="0E2841"/>
                </a:solidFill>
                <a:latin typeface="HY헤드라인M"/>
                <a:ea typeface="HY헤드라인M"/>
                <a:cs typeface="HY헤드라인M"/>
              </a:rPr>
              <a:t>부록 ─ 04. 한계와 향후 - 예측 오차와 가정에 대한 민감도</a:t>
            </a:r>
          </a:p>
        </p:txBody>
      </p:sp>
      <p:pic>
        <p:nvPicPr>
          <p:cNvPr id="3" name="Picture 2" descr="V4_breaking_distance_polar.png"/>
          <p:cNvPicPr>
            <a:picLocks noChangeAspect="1"/>
          </p:cNvPicPr>
          <p:nvPr/>
        </p:nvPicPr>
        <p:blipFill>
          <a:blip r:embed="rId2"/>
          <a:stretch>
            <a:fillRect/>
          </a:stretch>
        </p:blipFill>
        <p:spPr>
          <a:xfrm>
            <a:off x="502920" y="1325880"/>
            <a:ext cx="4297680" cy="4499398"/>
          </a:xfrm>
          <a:prstGeom prst="rect">
            <a:avLst/>
          </a:prstGeom>
        </p:spPr>
      </p:pic>
      <p:pic>
        <p:nvPicPr>
          <p:cNvPr id="4" name="Picture 3" descr="V8_f_sensitivity.png"/>
          <p:cNvPicPr>
            <a:picLocks noChangeAspect="1"/>
          </p:cNvPicPr>
          <p:nvPr/>
        </p:nvPicPr>
        <p:blipFill>
          <a:blip r:embed="rId3"/>
          <a:stretch>
            <a:fillRect/>
          </a:stretch>
        </p:blipFill>
        <p:spPr>
          <a:xfrm>
            <a:off x="5074920" y="1554480"/>
            <a:ext cx="6380225" cy="3931920"/>
          </a:xfrm>
          <a:prstGeom prst="rect">
            <a:avLst/>
          </a:prstGeom>
        </p:spPr>
      </p:pic>
      <p:sp>
        <p:nvSpPr>
          <p:cNvPr id="5" name="TextBox 4"/>
          <p:cNvSpPr txBox="1"/>
          <p:nvPr/>
        </p:nvSpPr>
        <p:spPr>
          <a:xfrm>
            <a:off x="5074920" y="5504688"/>
            <a:ext cx="6583680" cy="525272"/>
          </a:xfrm>
          <a:prstGeom prst="rect">
            <a:avLst/>
          </a:prstGeom>
          <a:noFill/>
        </p:spPr>
        <p:txBody>
          <a:bodyPr wrap="square" lIns="25400" tIns="25400" rIns="25400" bIns="25400" anchor="t">
            <a:spAutoFit/>
          </a:bodyPr>
          <a:lstStyle/>
          <a:p>
            <a:pPr>
              <a:lnSpc>
                <a:spcPct val="125000"/>
              </a:lnSpc>
              <a:spcAft>
                <a:spcPts val="400"/>
              </a:spcAft>
            </a:pPr>
            <a:r>
              <a:rPr lang="ko-KR" altLang="en-US" sz="1300" b="0" dirty="0">
                <a:solidFill>
                  <a:srgbClr val="2A3845"/>
                </a:solidFill>
                <a:latin typeface="맑은 고딕"/>
                <a:ea typeface="맑은 고딕"/>
                <a:cs typeface="맑은 고딕"/>
              </a:rPr>
              <a:t>공간 이동은 방향에 따라 </a:t>
            </a:r>
            <a:r>
              <a:rPr lang="en-US" altLang="ko-KR" sz="1300" b="0" dirty="0">
                <a:solidFill>
                  <a:srgbClr val="2A3845"/>
                </a:solidFill>
                <a:latin typeface="맑은 고딕"/>
                <a:ea typeface="맑은 고딕"/>
                <a:cs typeface="맑은 고딕"/>
              </a:rPr>
              <a:t>125–530m</a:t>
            </a:r>
            <a:r>
              <a:rPr lang="ko-KR" altLang="en-US" sz="1300" b="0" dirty="0">
                <a:solidFill>
                  <a:srgbClr val="2A3845"/>
                </a:solidFill>
                <a:latin typeface="맑은 고딕"/>
                <a:ea typeface="맑은 고딕"/>
                <a:cs typeface="맑은 고딕"/>
              </a:rPr>
              <a:t>에서 </a:t>
            </a:r>
            <a:r>
              <a:rPr lang="ko-KR" altLang="en-US" sz="1300" b="0" dirty="0" err="1">
                <a:solidFill>
                  <a:srgbClr val="2A3845"/>
                </a:solidFill>
                <a:latin typeface="맑은 고딕"/>
                <a:ea typeface="맑은 고딕"/>
                <a:cs typeface="맑은 고딕"/>
              </a:rPr>
              <a:t>파단했으며</a:t>
            </a:r>
            <a:r>
              <a:rPr lang="en-US" altLang="ko-KR" sz="1300" b="0" dirty="0">
                <a:solidFill>
                  <a:srgbClr val="2A3845"/>
                </a:solidFill>
                <a:latin typeface="맑은 고딕"/>
                <a:ea typeface="맑은 고딕"/>
                <a:cs typeface="맑은 고딕"/>
              </a:rPr>
              <a:t>, </a:t>
            </a:r>
            <a:r>
              <a:rPr lang="ko-KR" altLang="en-US" sz="1300" b="0" dirty="0">
                <a:solidFill>
                  <a:srgbClr val="2A3845"/>
                </a:solidFill>
                <a:latin typeface="맑은 고딕"/>
                <a:ea typeface="맑은 고딕"/>
                <a:cs typeface="맑은 고딕"/>
              </a:rPr>
              <a:t>가장 취약한 방향인 동쪽에서는 </a:t>
            </a:r>
            <a:r>
              <a:rPr lang="en-US" altLang="ko-KR" sz="1300" b="0" dirty="0">
                <a:solidFill>
                  <a:srgbClr val="2A3845"/>
                </a:solidFill>
                <a:latin typeface="맑은 고딕"/>
                <a:ea typeface="맑은 고딕"/>
                <a:cs typeface="맑은 고딕"/>
              </a:rPr>
              <a:t>125m</a:t>
            </a:r>
            <a:r>
              <a:rPr lang="ko-KR" altLang="en-US" sz="1300" b="0" dirty="0">
                <a:solidFill>
                  <a:srgbClr val="2A3845"/>
                </a:solidFill>
                <a:latin typeface="맑은 고딕"/>
                <a:ea typeface="맑은 고딕"/>
                <a:cs typeface="맑은 고딕"/>
              </a:rPr>
              <a:t>였습니다</a:t>
            </a:r>
            <a:r>
              <a:rPr lang="en-US" altLang="ko-KR" sz="1300" b="0" dirty="0">
                <a:solidFill>
                  <a:srgbClr val="2A3845"/>
                </a:solidFill>
                <a:latin typeface="맑은 고딕"/>
                <a:ea typeface="맑은 고딕"/>
                <a:cs typeface="맑은 고딕"/>
              </a:rPr>
              <a:t>. </a:t>
            </a:r>
            <a:r>
              <a:rPr lang="ko-KR" altLang="en-US" sz="1300" b="0" dirty="0">
                <a:solidFill>
                  <a:srgbClr val="2A3845"/>
                </a:solidFill>
                <a:latin typeface="맑은 고딕"/>
                <a:ea typeface="맑은 고딕"/>
                <a:cs typeface="맑은 고딕"/>
              </a:rPr>
              <a:t>형태학적 팽창은 약 </a:t>
            </a:r>
            <a:r>
              <a:rPr lang="en-US" altLang="ko-KR" sz="1300" b="0" dirty="0">
                <a:solidFill>
                  <a:srgbClr val="2A3845"/>
                </a:solidFill>
                <a:latin typeface="맑은 고딕"/>
                <a:ea typeface="맑은 고딕"/>
                <a:cs typeface="맑은 고딕"/>
              </a:rPr>
              <a:t>122m</a:t>
            </a:r>
            <a:r>
              <a:rPr lang="ko-KR" altLang="en-US" sz="1300" b="0" dirty="0">
                <a:solidFill>
                  <a:srgbClr val="2A3845"/>
                </a:solidFill>
                <a:latin typeface="맑은 고딕"/>
                <a:ea typeface="맑은 고딕"/>
                <a:cs typeface="맑은 고딕"/>
              </a:rPr>
              <a:t>에서 </a:t>
            </a:r>
            <a:r>
              <a:rPr lang="ko-KR" altLang="en-US" sz="1300" b="0" dirty="0" err="1">
                <a:solidFill>
                  <a:srgbClr val="2A3845"/>
                </a:solidFill>
                <a:latin typeface="맑은 고딕"/>
                <a:ea typeface="맑은 고딕"/>
                <a:cs typeface="맑은 고딕"/>
              </a:rPr>
              <a:t>파단했습니다</a:t>
            </a:r>
            <a:r>
              <a:rPr lang="en-US" altLang="ko-KR" sz="1300" b="0" dirty="0">
                <a:solidFill>
                  <a:srgbClr val="2A3845"/>
                </a:solidFill>
                <a:latin typeface="맑은 고딕"/>
                <a:ea typeface="맑은 고딕"/>
                <a:cs typeface="맑은 고딕"/>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4BC062-1696-690C-E39F-40C6CBE818AE}"/>
              </a:ext>
            </a:extLst>
          </p:cNvPr>
          <p:cNvSpPr txBox="1"/>
          <p:nvPr/>
        </p:nvSpPr>
        <p:spPr>
          <a:xfrm>
            <a:off x="976233" y="1065491"/>
            <a:ext cx="6217920" cy="646331"/>
          </a:xfrm>
          <a:prstGeom prst="rect">
            <a:avLst/>
          </a:prstGeom>
          <a:noFill/>
        </p:spPr>
        <p:txBody>
          <a:bodyPr wrap="none">
            <a:noAutofit/>
          </a:bodyPr>
          <a:lstStyle/>
          <a:p>
            <a:r>
              <a:rPr lang="en-US" altLang="ko-KR" sz="3600" b="1" spc="-150" dirty="0">
                <a:latin typeface="HY헤드라인M" panose="02030600000101010101" pitchFamily="18" charset="-127"/>
                <a:ea typeface="HY헤드라인M" panose="02030600000101010101" pitchFamily="18" charset="-127"/>
              </a:rPr>
              <a:t>부록 ─ CONTENTS</a:t>
            </a:r>
            <a:endParaRPr lang="ko-KR" altLang="en-US" sz="2800" b="1" spc="-150" dirty="0">
              <a:latin typeface="HY헤드라인M" panose="02030600000101010101" pitchFamily="18" charset="-127"/>
              <a:ea typeface="HY헤드라인M" panose="02030600000101010101" pitchFamily="18" charset="-127"/>
            </a:endParaRPr>
          </a:p>
        </p:txBody>
      </p:sp>
      <p:sp>
        <p:nvSpPr>
          <p:cNvPr id="5" name="TextBox 4">
            <a:extLst>
              <a:ext uri="{FF2B5EF4-FFF2-40B4-BE49-F238E27FC236}">
                <a16:creationId xmlns:a16="http://schemas.microsoft.com/office/drawing/2014/main" id="{BDF7B748-0743-0757-1303-C3F33A424B98}"/>
              </a:ext>
            </a:extLst>
          </p:cNvPr>
          <p:cNvSpPr txBox="1"/>
          <p:nvPr/>
        </p:nvSpPr>
        <p:spPr>
          <a:xfrm>
            <a:off x="1019162" y="873624"/>
            <a:ext cx="5206147" cy="307777"/>
          </a:xfrm>
          <a:prstGeom prst="rect">
            <a:avLst/>
          </a:prstGeom>
          <a:noFill/>
        </p:spPr>
        <p:txBody>
          <a:bodyPr wrap="square">
            <a:spAutoFit/>
          </a:bodyPr>
          <a:lstStyle/>
          <a:p>
            <a:r>
              <a:rPr lang="en-US" altLang="ko-KR" sz="1400" spc="-150" dirty="0">
                <a:latin typeface="HY헤드라인M" panose="02030600000101010101" pitchFamily="18" charset="-127"/>
                <a:ea typeface="HY헤드라인M" panose="02030600000101010101" pitchFamily="18" charset="-127"/>
              </a:rPr>
              <a:t>2026</a:t>
            </a:r>
            <a:r>
              <a:rPr lang="ko-KR" altLang="en-US" sz="1400" spc="-150" dirty="0">
                <a:latin typeface="HY헤드라인M" panose="02030600000101010101" pitchFamily="18" charset="-127"/>
                <a:ea typeface="HY헤드라인M" panose="02030600000101010101" pitchFamily="18" charset="-127"/>
              </a:rPr>
              <a:t>년 제</a:t>
            </a:r>
            <a:r>
              <a:rPr lang="en-US" altLang="ko-KR" sz="1400" spc="-150" dirty="0">
                <a:latin typeface="HY헤드라인M" panose="02030600000101010101" pitchFamily="18" charset="-127"/>
                <a:ea typeface="HY헤드라인M" panose="02030600000101010101" pitchFamily="18" charset="-127"/>
              </a:rPr>
              <a:t>8</a:t>
            </a:r>
            <a:r>
              <a:rPr lang="ko-KR" altLang="en-US" sz="1400" spc="-150" dirty="0">
                <a:latin typeface="HY헤드라인M" panose="02030600000101010101" pitchFamily="18" charset="-127"/>
                <a:ea typeface="HY헤드라인M" panose="02030600000101010101" pitchFamily="18" charset="-127"/>
              </a:rPr>
              <a:t>회 </a:t>
            </a:r>
            <a:r>
              <a:rPr lang="ko-KR" altLang="en-US" sz="1400" spc="-150" dirty="0" err="1">
                <a:latin typeface="HY헤드라인M" panose="02030600000101010101" pitchFamily="18" charset="-127"/>
                <a:ea typeface="HY헤드라인M" panose="02030600000101010101" pitchFamily="18" charset="-127"/>
              </a:rPr>
              <a:t>한국코드페어</a:t>
            </a:r>
            <a:r>
              <a:rPr lang="ko-KR" altLang="en-US" sz="1400" spc="-150" dirty="0">
                <a:latin typeface="HY헤드라인M" panose="02030600000101010101" pitchFamily="18" charset="-127"/>
                <a:ea typeface="HY헤드라인M" panose="02030600000101010101" pitchFamily="18" charset="-127"/>
              </a:rPr>
              <a:t> </a:t>
            </a:r>
            <a:r>
              <a:rPr lang="en-US" altLang="ko-KR" sz="1400" spc="-150" dirty="0">
                <a:latin typeface="HY헤드라인M" panose="02030600000101010101" pitchFamily="18" charset="-127"/>
                <a:ea typeface="HY헤드라인M" panose="02030600000101010101" pitchFamily="18" charset="-127"/>
              </a:rPr>
              <a:t>SW</a:t>
            </a:r>
            <a:r>
              <a:rPr lang="ko-KR" altLang="en-US" sz="1400" spc="-150" dirty="0">
                <a:latin typeface="HY헤드라인M" panose="02030600000101010101" pitchFamily="18" charset="-127"/>
                <a:ea typeface="HY헤드라인M" panose="02030600000101010101" pitchFamily="18" charset="-127"/>
              </a:rPr>
              <a:t>공모전 </a:t>
            </a:r>
            <a:r>
              <a:rPr lang="en-US" altLang="ko-KR" sz="1400" spc="-150" dirty="0">
                <a:latin typeface="HY헤드라인M" panose="02030600000101010101" pitchFamily="18" charset="-127"/>
                <a:ea typeface="HY헤드라인M" panose="02030600000101010101" pitchFamily="18" charset="-127"/>
              </a:rPr>
              <a:t>2</a:t>
            </a:r>
            <a:r>
              <a:rPr lang="ko-KR" altLang="en-US" sz="1400" spc="-150" dirty="0">
                <a:latin typeface="HY헤드라인M" panose="02030600000101010101" pitchFamily="18" charset="-127"/>
                <a:ea typeface="HY헤드라인M" panose="02030600000101010101" pitchFamily="18" charset="-127"/>
              </a:rPr>
              <a:t>차 온라인 예선</a:t>
            </a:r>
          </a:p>
        </p:txBody>
      </p:sp>
      <p:sp>
        <p:nvSpPr>
          <p:cNvPr id="7" name="TextBox 6">
            <a:extLst>
              <a:ext uri="{FF2B5EF4-FFF2-40B4-BE49-F238E27FC236}">
                <a16:creationId xmlns:a16="http://schemas.microsoft.com/office/drawing/2014/main" id="{ABE51BD2-4855-C761-F23F-9C464AFC3A94}"/>
              </a:ext>
            </a:extLst>
          </p:cNvPr>
          <p:cNvSpPr txBox="1"/>
          <p:nvPr/>
        </p:nvSpPr>
        <p:spPr>
          <a:xfrm>
            <a:off x="1291487" y="1873872"/>
            <a:ext cx="6583680" cy="4385496"/>
          </a:xfrm>
          <a:prstGeom prst="rect">
            <a:avLst/>
          </a:prstGeom>
          <a:noFill/>
        </p:spPr>
        <p:txBody>
          <a:bodyPr wrap="square">
            <a:noAutofit/>
          </a:bodyPr>
          <a:lstStyle/>
          <a:p>
            <a:pPr>
              <a:lnSpc>
                <a:spcPct val="200000"/>
              </a:lnSpc>
            </a:pPr>
            <a:r>
              <a:rPr lang="en-US" altLang="ko-KR" sz="3200" dirty="0">
                <a:latin typeface="HY헤드라인M" panose="02030600000101010101" pitchFamily="18" charset="-127"/>
                <a:ea typeface="HY헤드라인M" panose="02030600000101010101" pitchFamily="18" charset="-127"/>
              </a:rPr>
              <a:t>01.</a:t>
            </a:r>
            <a:r>
              <a:rPr sz="2100" b="1">
                <a:solidFill>
                  <a:srgbClr val="0E2841"/>
                </a:solidFill>
                <a:latin typeface="HY헤드라인M"/>
                <a:ea typeface="HY헤드라인M"/>
                <a:cs typeface="HY헤드라인M"/>
              </a:rPr>
              <a:t>  문제 제기</a:t>
            </a:r>
          </a:p>
          <a:p>
            <a:pPr>
              <a:lnSpc>
                <a:spcPct val="200000"/>
              </a:lnSpc>
            </a:pPr>
            <a:r>
              <a:rPr lang="en-US" altLang="ko-KR" sz="3200" dirty="0">
                <a:latin typeface="HY헤드라인M" panose="02030600000101010101" pitchFamily="18" charset="-127"/>
                <a:ea typeface="HY헤드라인M" panose="02030600000101010101" pitchFamily="18" charset="-127"/>
              </a:rPr>
              <a:t>02.</a:t>
            </a:r>
            <a:r>
              <a:rPr sz="2100" b="1">
                <a:solidFill>
                  <a:srgbClr val="0E2841"/>
                </a:solidFill>
                <a:latin typeface="HY헤드라인M"/>
                <a:ea typeface="HY헤드라인M"/>
                <a:cs typeface="HY헤드라인M"/>
              </a:rPr>
              <a:t>  시스템 설계</a:t>
            </a:r>
          </a:p>
          <a:p>
            <a:pPr>
              <a:lnSpc>
                <a:spcPct val="200000"/>
              </a:lnSpc>
            </a:pPr>
            <a:r>
              <a:rPr lang="en-US" altLang="ko-KR" sz="3200" dirty="0">
                <a:latin typeface="HY헤드라인M" panose="02030600000101010101" pitchFamily="18" charset="-127"/>
                <a:ea typeface="HY헤드라인M" panose="02030600000101010101" pitchFamily="18" charset="-127"/>
              </a:rPr>
              <a:t>03.</a:t>
            </a:r>
            <a:r>
              <a:rPr sz="2100" b="1">
                <a:solidFill>
                  <a:srgbClr val="0E2841"/>
                </a:solidFill>
                <a:latin typeface="HY헤드라인M"/>
                <a:ea typeface="HY헤드라인M"/>
                <a:cs typeface="HY헤드라인M"/>
              </a:rPr>
              <a:t>  검증과 결과</a:t>
            </a:r>
          </a:p>
          <a:p>
            <a:pPr>
              <a:lnSpc>
                <a:spcPct val="200000"/>
              </a:lnSpc>
            </a:pPr>
            <a:r>
              <a:rPr lang="en-US" altLang="ko-KR" sz="3200" dirty="0">
                <a:latin typeface="HY헤드라인M" panose="02030600000101010101" pitchFamily="18" charset="-127"/>
                <a:ea typeface="HY헤드라인M" panose="02030600000101010101" pitchFamily="18" charset="-127"/>
              </a:rPr>
              <a:t>04.</a:t>
            </a:r>
            <a:r>
              <a:rPr sz="2100" b="1">
                <a:solidFill>
                  <a:srgbClr val="0E2841"/>
                </a:solidFill>
                <a:latin typeface="HY헤드라인M"/>
                <a:ea typeface="HY헤드라인M"/>
                <a:cs typeface="HY헤드라인M"/>
              </a:rPr>
              <a:t>  한계와 향후</a:t>
            </a:r>
          </a:p>
          <a:p>
            <a:pPr>
              <a:lnSpc>
                <a:spcPct val="200000"/>
              </a:lnSpc>
            </a:pPr>
            <a:endParaRPr lang="ko-KR" altLang="en-US" sz="1400" dirty="0">
              <a:latin typeface="HY헤드라인M" panose="02030600000101010101" pitchFamily="18" charset="-127"/>
              <a:ea typeface="HY헤드라인M" panose="02030600000101010101" pitchFamily="18" charset="-127"/>
            </a:endParaRPr>
          </a:p>
        </p:txBody>
      </p:sp>
    </p:spTree>
    <p:extLst>
      <p:ext uri="{BB962C8B-B14F-4D97-AF65-F5344CB8AC3E}">
        <p14:creationId xmlns:p14="http://schemas.microsoft.com/office/powerpoint/2010/main" val="404406948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5438</TotalTime>
  <Words>1383</Words>
  <Application>Microsoft Macintosh PowerPoint</Application>
  <PresentationFormat>Widescreen</PresentationFormat>
  <Paragraphs>122</Paragraphs>
  <Slides>15</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HY헤드라인M</vt:lpstr>
      <vt:lpstr>맑은 고딕</vt:lpstr>
      <vt:lpstr>프리젠테이션 4 Regular</vt:lpstr>
      <vt:lpstr>Arial</vt:lpstr>
      <vt:lpstr>Office 테마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subject/>
  <dc:creator>아이엘</dc:creator>
  <cp:keywords/>
  <dc:description/>
  <cp:lastModifiedBy>Siyeong Park</cp:lastModifiedBy>
  <cp:revision>295</cp:revision>
  <cp:lastPrinted>2024-11-27T23:06:21Z</cp:lastPrinted>
  <dcterms:created xsi:type="dcterms:W3CDTF">2024-11-26T00:48:27Z</dcterms:created>
  <dcterms:modified xsi:type="dcterms:W3CDTF">2026-07-26T14:20:59Z</dcterms:modified>
  <cp:category/>
</cp:coreProperties>
</file>